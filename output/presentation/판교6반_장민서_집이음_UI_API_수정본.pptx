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6589eda1d48fc" /><Relationship Type="http://schemas.openxmlformats.org/officeDocument/2006/relationships/extended-properties" Target="/docProps/app.xml" Id="R08a645e666324c89" /><Relationship Type="http://schemas.openxmlformats.org/officeDocument/2006/relationships/officeDocument" Target="/ppt/presentation.xml" Id="R21537772c5f14b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afe3cf1f634799"/>
  </p:sldMasterIdLst>
  <p:notesMasterIdLst>
    <p:notesMasterId xmlns:r="http://schemas.openxmlformats.org/officeDocument/2006/relationships" r:id="Raa8a85913b374921"/>
  </p:notesMasterIdLst>
  <p:sldIdLst>
    <p:sldId xmlns:r="http://schemas.openxmlformats.org/officeDocument/2006/relationships" id="256" r:id="R9e73c74482d445ab"/>
    <p:sldId xmlns:r="http://schemas.openxmlformats.org/officeDocument/2006/relationships" id="257" r:id="R9d74849ab34a4ef4"/>
    <p:sldId xmlns:r="http://schemas.openxmlformats.org/officeDocument/2006/relationships" id="258" r:id="R1c34fe871490461c"/>
    <p:sldId xmlns:r="http://schemas.openxmlformats.org/officeDocument/2006/relationships" id="259" r:id="Rfe18455626064c4b"/>
    <p:sldId xmlns:r="http://schemas.openxmlformats.org/officeDocument/2006/relationships" id="260" r:id="R736da9187d9e45e4"/>
    <p:sldId xmlns:r="http://schemas.openxmlformats.org/officeDocument/2006/relationships" id="261" r:id="Rb63a57f0de40449a"/>
    <p:sldId xmlns:r="http://schemas.openxmlformats.org/officeDocument/2006/relationships" id="262" r:id="Racffe95449cb4dea"/>
    <p:sldId xmlns:r="http://schemas.openxmlformats.org/officeDocument/2006/relationships" id="263" r:id="R8a489f2748bd493e"/>
    <p:sldId xmlns:r="http://schemas.openxmlformats.org/officeDocument/2006/relationships" id="264" r:id="Re80b4abaa2d24255"/>
    <p:sldId xmlns:r="http://schemas.openxmlformats.org/officeDocument/2006/relationships" id="265" r:id="R38e9185c46ae46ef"/>
    <p:sldId xmlns:r="http://schemas.openxmlformats.org/officeDocument/2006/relationships" id="266" r:id="Rc71148ace3434710"/>
    <p:sldId xmlns:r="http://schemas.openxmlformats.org/officeDocument/2006/relationships" id="267" r:id="Ra654c09b85e64561"/>
    <p:sldId xmlns:r="http://schemas.openxmlformats.org/officeDocument/2006/relationships" id="268" r:id="R9b0787d7bea24d67"/>
    <p:sldId xmlns:r="http://schemas.openxmlformats.org/officeDocument/2006/relationships" id="269" r:id="R5970dbc175f043a0"/>
    <p:sldId xmlns:r="http://schemas.openxmlformats.org/officeDocument/2006/relationships" id="270" r:id="R14d113cb59fb40f0"/>
    <p:sldId xmlns:r="http://schemas.openxmlformats.org/officeDocument/2006/relationships" id="271" r:id="R07c7ca5e60704d82"/>
    <p:sldId xmlns:r="http://schemas.openxmlformats.org/officeDocument/2006/relationships" id="272" r:id="R96b859d8e2b5487a"/>
    <p:sldId xmlns:r="http://schemas.openxmlformats.org/officeDocument/2006/relationships" id="273" r:id="R24a4662085f447a2"/>
    <p:sldId xmlns:r="http://schemas.openxmlformats.org/officeDocument/2006/relationships" id="274" r:id="R366f1894a61647bd"/>
    <p:sldId xmlns:r="http://schemas.openxmlformats.org/officeDocument/2006/relationships" id="275" r:id="R74f1604a9fe540d6"/>
    <p:sldId xmlns:r="http://schemas.openxmlformats.org/officeDocument/2006/relationships" id="276" r:id="Rd42fd5220f8147a8"/>
    <p:sldId xmlns:r="http://schemas.openxmlformats.org/officeDocument/2006/relationships" id="277" r:id="R277a0d5073144e25"/>
    <p:sldId xmlns:r="http://schemas.openxmlformats.org/officeDocument/2006/relationships" id="278" r:id="R03ef5e4b8faf41e5"/>
    <p:sldId xmlns:r="http://schemas.openxmlformats.org/officeDocument/2006/relationships" id="279" r:id="R212b92b6abd943ad"/>
    <p:sldId xmlns:r="http://schemas.openxmlformats.org/officeDocument/2006/relationships" id="280" r:id="R455e7aca37524e92"/>
    <p:sldId xmlns:r="http://schemas.openxmlformats.org/officeDocument/2006/relationships" id="281" r:id="Rb0421ee8b82d46d0"/>
    <p:sldId xmlns:r="http://schemas.openxmlformats.org/officeDocument/2006/relationships" id="282" r:id="Rf717cd868308461c"/>
    <p:sldId xmlns:r="http://schemas.openxmlformats.org/officeDocument/2006/relationships" id="283" r:id="R5ff120c633474daf"/>
    <p:sldId xmlns:r="http://schemas.openxmlformats.org/officeDocument/2006/relationships" id="284" r:id="Rce422c46118a4f92"/>
    <p:sldId xmlns:r="http://schemas.openxmlformats.org/officeDocument/2006/relationships" id="285" r:id="R1b1384ba4f3244c3"/>
    <p:sldId xmlns:r="http://schemas.openxmlformats.org/officeDocument/2006/relationships" id="286" r:id="Rd6931a9f70ca4b0b"/>
  </p:sldIdLst>
  <p:sldSz cx="13716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00558afd2e4d31" /><Relationship Type="http://schemas.openxmlformats.org/officeDocument/2006/relationships/slideMaster" Target="/ppt/slideMasters/slideMaster1.xml" Id="R33afe3cf1f634799" /><Relationship Type="http://schemas.openxmlformats.org/officeDocument/2006/relationships/notesMaster" Target="/ppt/notesMasters/notesMaster1.xml" Id="Raa8a85913b374921" /><Relationship Type="http://schemas.openxmlformats.org/officeDocument/2006/relationships/presProps" Target="/ppt/presProps.xml" Id="Rdea373687a74495a" /><Relationship Type="http://schemas.openxmlformats.org/officeDocument/2006/relationships/tableStyles" Target="/ppt/tableStyles.xml" Id="R1981b9fd6646428d" /><Relationship Type="http://schemas.openxmlformats.org/officeDocument/2006/relationships/slide" Target="/ppt/slides/slide1.xml" Id="R9e73c74482d445ab" /><Relationship Type="http://schemas.openxmlformats.org/officeDocument/2006/relationships/slide" Target="/ppt/slides/slide2.xml" Id="R9d74849ab34a4ef4" /><Relationship Type="http://schemas.openxmlformats.org/officeDocument/2006/relationships/slide" Target="/ppt/slides/slide3.xml" Id="R1c34fe871490461c" /><Relationship Type="http://schemas.openxmlformats.org/officeDocument/2006/relationships/slide" Target="/ppt/slides/slide4.xml" Id="Rfe18455626064c4b" /><Relationship Type="http://schemas.openxmlformats.org/officeDocument/2006/relationships/slide" Target="/ppt/slides/slide5.xml" Id="R736da9187d9e45e4" /><Relationship Type="http://schemas.openxmlformats.org/officeDocument/2006/relationships/slide" Target="/ppt/slides/slide6.xml" Id="Rb63a57f0de40449a" /><Relationship Type="http://schemas.openxmlformats.org/officeDocument/2006/relationships/slide" Target="/ppt/slides/slide7.xml" Id="Racffe95449cb4dea" /><Relationship Type="http://schemas.openxmlformats.org/officeDocument/2006/relationships/slide" Target="/ppt/slides/slide8.xml" Id="R8a489f2748bd493e" /><Relationship Type="http://schemas.openxmlformats.org/officeDocument/2006/relationships/slide" Target="/ppt/slides/slide9.xml" Id="Re80b4abaa2d24255" /><Relationship Type="http://schemas.openxmlformats.org/officeDocument/2006/relationships/slide" Target="/ppt/slides/slide10.xml" Id="R38e9185c46ae46ef" /><Relationship Type="http://schemas.openxmlformats.org/officeDocument/2006/relationships/slide" Target="/ppt/slides/slide11.xml" Id="Rc71148ace3434710" /><Relationship Type="http://schemas.openxmlformats.org/officeDocument/2006/relationships/slide" Target="/ppt/slides/slide12.xml" Id="Ra654c09b85e64561" /><Relationship Type="http://schemas.openxmlformats.org/officeDocument/2006/relationships/slide" Target="/ppt/slides/slide13.xml" Id="R9b0787d7bea24d67" /><Relationship Type="http://schemas.openxmlformats.org/officeDocument/2006/relationships/slide" Target="/ppt/slides/slide14.xml" Id="R5970dbc175f043a0" /><Relationship Type="http://schemas.openxmlformats.org/officeDocument/2006/relationships/slide" Target="/ppt/slides/slide15.xml" Id="R14d113cb59fb40f0" /><Relationship Type="http://schemas.openxmlformats.org/officeDocument/2006/relationships/slide" Target="/ppt/slides/slide16.xml" Id="R07c7ca5e60704d82" /><Relationship Type="http://schemas.openxmlformats.org/officeDocument/2006/relationships/slide" Target="/ppt/slides/slide17.xml" Id="R96b859d8e2b5487a" /><Relationship Type="http://schemas.openxmlformats.org/officeDocument/2006/relationships/slide" Target="/ppt/slides/slide18.xml" Id="R24a4662085f447a2" /><Relationship Type="http://schemas.openxmlformats.org/officeDocument/2006/relationships/slide" Target="/ppt/slides/slide19.xml" Id="R366f1894a61647bd" /><Relationship Type="http://schemas.openxmlformats.org/officeDocument/2006/relationships/slide" Target="/ppt/slides/slide20.xml" Id="R74f1604a9fe540d6" /><Relationship Type="http://schemas.openxmlformats.org/officeDocument/2006/relationships/slide" Target="/ppt/slides/slide21.xml" Id="Rd42fd5220f8147a8" /><Relationship Type="http://schemas.openxmlformats.org/officeDocument/2006/relationships/slide" Target="/ppt/slides/slide22.xml" Id="R277a0d5073144e25" /><Relationship Type="http://schemas.openxmlformats.org/officeDocument/2006/relationships/slide" Target="/ppt/slides/slide23.xml" Id="R03ef5e4b8faf41e5" /><Relationship Type="http://schemas.openxmlformats.org/officeDocument/2006/relationships/slide" Target="/ppt/slides/slide24.xml" Id="R212b92b6abd943ad" /><Relationship Type="http://schemas.openxmlformats.org/officeDocument/2006/relationships/slide" Target="/ppt/slides/slide25.xml" Id="R455e7aca37524e92" /><Relationship Type="http://schemas.openxmlformats.org/officeDocument/2006/relationships/slide" Target="/ppt/slides/slide26.xml" Id="Rb0421ee8b82d46d0" /><Relationship Type="http://schemas.openxmlformats.org/officeDocument/2006/relationships/slide" Target="/ppt/slides/slide27.xml" Id="Rf717cd868308461c" /><Relationship Type="http://schemas.openxmlformats.org/officeDocument/2006/relationships/slide" Target="/ppt/slides/slide28.xml" Id="R5ff120c633474daf" /><Relationship Type="http://schemas.openxmlformats.org/officeDocument/2006/relationships/slide" Target="/ppt/slides/slide29.xml" Id="Rce422c46118a4f92" /><Relationship Type="http://schemas.openxmlformats.org/officeDocument/2006/relationships/slide" Target="/ppt/slides/slide30.xml" Id="R1b1384ba4f3244c3" /><Relationship Type="http://schemas.openxmlformats.org/officeDocument/2006/relationships/slide" Target="/ppt/slides/slide31.xml" Id="Rd6931a9f70ca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34c6ab80f643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00b82a19b14e9e" /><Relationship Type="http://schemas.openxmlformats.org/officeDocument/2006/relationships/notesMaster" Target="/ppt/notesMasters/notesMaster1.xml" Id="R1ec300d6a90f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5f43a79244028" /><Relationship Type="http://schemas.openxmlformats.org/officeDocument/2006/relationships/notesMaster" Target="/ppt/notesMasters/notesMaster1.xml" Id="Rf856830fb7b444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593970648840a0" /><Relationship Type="http://schemas.openxmlformats.org/officeDocument/2006/relationships/notesMaster" Target="/ppt/notesMasters/notesMaster1.xml" Id="R46d5f358460648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f0f058a7994f36" /><Relationship Type="http://schemas.openxmlformats.org/officeDocument/2006/relationships/notesMaster" Target="/ppt/notesMasters/notesMaster1.xml" Id="Rf61af858fce24d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328753cad4e8c" /><Relationship Type="http://schemas.openxmlformats.org/officeDocument/2006/relationships/notesMaster" Target="/ppt/notesMasters/notesMaster1.xml" Id="R111a6d3cb5bc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c232657c084348" /><Relationship Type="http://schemas.openxmlformats.org/officeDocument/2006/relationships/notesMaster" Target="/ppt/notesMasters/notesMaster1.xml" Id="R4b074dea7a35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c40053a7f4a1f" /><Relationship Type="http://schemas.openxmlformats.org/officeDocument/2006/relationships/notesMaster" Target="/ppt/notesMasters/notesMaster1.xml" Id="Ra0b7a3992a2445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b3e170fa64e25" /><Relationship Type="http://schemas.openxmlformats.org/officeDocument/2006/relationships/notesMaster" Target="/ppt/notesMasters/notesMaster1.xml" Id="R2b53be3a516142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f5da2b784740f9" /><Relationship Type="http://schemas.openxmlformats.org/officeDocument/2006/relationships/notesMaster" Target="/ppt/notesMasters/notesMaster1.xml" Id="R577eb05983af47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37ba8262ad479b" /><Relationship Type="http://schemas.openxmlformats.org/officeDocument/2006/relationships/notesMaster" Target="/ppt/notesMasters/notesMaster1.xml" Id="Rc148880101194d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1b2d32802848e7" /><Relationship Type="http://schemas.openxmlformats.org/officeDocument/2006/relationships/notesMaster" Target="/ppt/notesMasters/notesMaster1.xml" Id="R82577683a3e746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653a0cd6f94960" /><Relationship Type="http://schemas.openxmlformats.org/officeDocument/2006/relationships/notesMaster" Target="/ppt/notesMasters/notesMaster1.xml" Id="R25d0279172a943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f9273f13464176" /><Relationship Type="http://schemas.openxmlformats.org/officeDocument/2006/relationships/notesMaster" Target="/ppt/notesMasters/notesMaster1.xml" Id="R36b407b3312647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b80ff0360d4289" /><Relationship Type="http://schemas.openxmlformats.org/officeDocument/2006/relationships/notesMaster" Target="/ppt/notesMasters/notesMaster1.xml" Id="R51801453309e49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a24b75c5a74cf5" /><Relationship Type="http://schemas.openxmlformats.org/officeDocument/2006/relationships/notesMaster" Target="/ppt/notesMasters/notesMaster1.xml" Id="R6477f94b658a4b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278ee3132649e5" /><Relationship Type="http://schemas.openxmlformats.org/officeDocument/2006/relationships/notesMaster" Target="/ppt/notesMasters/notesMaster1.xml" Id="Raa9c4fd112b245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2de7df2efb4201" /><Relationship Type="http://schemas.openxmlformats.org/officeDocument/2006/relationships/notesMaster" Target="/ppt/notesMasters/notesMaster1.xml" Id="R878e5a92524049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abacbb67a34e69" /><Relationship Type="http://schemas.openxmlformats.org/officeDocument/2006/relationships/notesMaster" Target="/ppt/notesMasters/notesMaster1.xml" Id="R0b438b2bfde041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3b3f16b234448d" /><Relationship Type="http://schemas.openxmlformats.org/officeDocument/2006/relationships/notesMaster" Target="/ppt/notesMasters/notesMaster1.xml" Id="R8687d5461f724e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6fc6d2893d4445" /><Relationship Type="http://schemas.openxmlformats.org/officeDocument/2006/relationships/notesMaster" Target="/ppt/notesMasters/notesMaster1.xml" Id="R45c4b9cb1a5747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3b1e4d13bd48cb" /><Relationship Type="http://schemas.openxmlformats.org/officeDocument/2006/relationships/notesMaster" Target="/ppt/notesMasters/notesMaster1.xml" Id="R96a5d9ce28cc45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a0954ac15847a7" /><Relationship Type="http://schemas.openxmlformats.org/officeDocument/2006/relationships/notesMaster" Target="/ppt/notesMasters/notesMaster1.xml" Id="R09f8c32094d0404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08f785469d425e" /><Relationship Type="http://schemas.openxmlformats.org/officeDocument/2006/relationships/notesMaster" Target="/ppt/notesMasters/notesMaster1.xml" Id="R3e4a53ef8e924f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3d3c0e60b444eb" /><Relationship Type="http://schemas.openxmlformats.org/officeDocument/2006/relationships/notesMaster" Target="/ppt/notesMasters/notesMaster1.xml" Id="Re198e46c7c5d46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67b31a69cc429f" /><Relationship Type="http://schemas.openxmlformats.org/officeDocument/2006/relationships/notesMaster" Target="/ppt/notesMasters/notesMaster1.xml" Id="R6693cd2e94d94b6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04f4baf83e474c" /><Relationship Type="http://schemas.openxmlformats.org/officeDocument/2006/relationships/notesMaster" Target="/ppt/notesMasters/notesMaster1.xml" Id="Rd20e69252abf4d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8e044fd697488c" /><Relationship Type="http://schemas.openxmlformats.org/officeDocument/2006/relationships/notesMaster" Target="/ppt/notesMasters/notesMaster1.xml" Id="R62337b08ee01434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1ed3e33add4bfa" /><Relationship Type="http://schemas.openxmlformats.org/officeDocument/2006/relationships/notesMaster" Target="/ppt/notesMasters/notesMaster1.xml" Id="R80b74375dd2243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9fba9035fa47d3" /><Relationship Type="http://schemas.openxmlformats.org/officeDocument/2006/relationships/notesMaster" Target="/ppt/notesMasters/notesMaster1.xml" Id="Rfb7b53231c66489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613fcd63a964c71" /><Relationship Type="http://schemas.openxmlformats.org/officeDocument/2006/relationships/notesMaster" Target="/ppt/notesMasters/notesMaster1.xml" Id="Rb7b9636b3e324ac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87b491af67f4428" /><Relationship Type="http://schemas.openxmlformats.org/officeDocument/2006/relationships/notesMaster" Target="/ppt/notesMasters/notesMaster1.xml" Id="R07c50779703e45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V01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"getMe",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"계정"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"현재 사용자 조회",</a:t>
            </a:r>
          </a:p>
          <a:p xmlns:a="http://schemas.openxmlformats.org/drawingml/2006/main">
            <a:r>
              <a:t>  "description": "현재 사용자 조회",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"#/components/schemas/User"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"/me",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"listCases",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"내 구매 프로젝트 목록",</a:t>
            </a:r>
          </a:p>
          <a:p xmlns:a="http://schemas.openxmlformats.org/drawingml/2006/main">
            <a:r>
              <a:t>  "description": "내 구매 프로젝트 목록",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"#/components/schemas/CasePage"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"updateMe",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"계정"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"구매자 표시 이름 저장",</a:t>
            </a:r>
          </a:p>
          <a:p xmlns:a="http://schemas.openxmlformats.org/drawingml/2006/main">
            <a:r>
              <a:t>  "description": "구매자 표시 이름 저장",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"#/components/schemas/User"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"name":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50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"name"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"/me",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B02 / 실제 브라우저 캡처. API는 목표 명세이며 현재 데모는 localStorage를 사용합니다.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B03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"createCase",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 프로젝트 생성",</a:t>
            </a:r>
          </a:p>
          <a:p xmlns:a="http://schemas.openxmlformats.org/drawingml/2006/main">
            <a:r>
              <a:t>  "description": "buyer_id는 인증 계정에서 결정. workflow_version=3. 담당자는 자동 선택하지 않는다. 초기 팀 슬롯 3개는 미선택으로 표시.",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"#/components/schemas/PurchaseCase"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"#/components/schemas/CaseInput"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"updateMe",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"계정"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"구매자 표시 이름 저장",</a:t>
            </a:r>
          </a:p>
          <a:p xmlns:a="http://schemas.openxmlformats.org/drawingml/2006/main">
            <a:r>
              <a:t>  "description": "구매자 표시 이름 저장",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"#/components/schemas/User"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"name":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50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"name"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"/me",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V02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"listExperts",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"전문가 검색·분야 필터",</a:t>
            </a:r>
          </a:p>
          <a:p xmlns:a="http://schemas.openxmlformats.org/drawingml/2006/main">
            <a:r>
              <a:t>  "description": "공개 프로필 조회. case_id가 없으면 비회원 조회 가능. 데모는 분야별 3명, 총 9명. 전문가 총수는 운영 시 제한하지 않는다.",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"expert_type",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"enum": [</a:t>
            </a:r>
          </a:p>
          <a:p xmlns:a="http://schemas.openxmlformats.org/drawingml/2006/main">
            <a:r>
              <a:t>          "BROKER",</a:t>
            </a:r>
          </a:p>
          <a:p xmlns:a="http://schemas.openxmlformats.org/drawingml/2006/main">
            <a:r>
              <a:t>          "LEGAL",</a:t>
            </a:r>
          </a:p>
          <a:p xmlns:a="http://schemas.openxmlformats.org/drawingml/2006/main">
            <a:r>
              <a:t>          "TAX"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"선택 여부 표시에 사용할 내 프로젝트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"getExpert",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"전문가 공개 정보",</a:t>
            </a:r>
          </a:p>
          <a:p xmlns:a="http://schemas.openxmlformats.org/drawingml/2006/main">
            <a:r>
              <a:t>  "description": "전문가 공개 정보",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"expert_id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"/experts/{expert_id}",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B05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"createRequest",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"후보에게 상담·견적 요청",</a:t>
            </a:r>
          </a:p>
          <a:p xmlns:a="http://schemas.openxmlformats.org/drawingml/2006/main">
            <a:r>
              <a:t>  "description": "같은 case_id+expert_id 중복은 409 DUPLICATE_REQUEST. 요청과 Conversation을 함께 생성. 여러 후보에게 요청 가능; 담당자 확정 아님.",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"expert_id":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"format": "uuid"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"note":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2000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"expert_id",</a:t>
            </a:r>
          </a:p>
          <a:p xmlns:a="http://schemas.openxmlformats.org/drawingml/2006/main">
            <a:r>
              <a:t>            "note"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"/cases/{case_id}/requests",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 조건 조회",</a:t>
            </a:r>
          </a:p>
          <a:p xmlns:a="http://schemas.openxmlformats.org/drawingml/2006/main">
            <a:r>
              <a:t>  "description": "구매 조건 조회",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"#/components/schemas/PurchaseCase"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E03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"createQuote",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"요청·견적"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"담당 후보가 견적 발송",</a:t>
            </a:r>
          </a:p>
          <a:p xmlns:a="http://schemas.openxmlformats.org/drawingml/2006/main">
            <a:r>
              <a:t>  "description": "요청받은 전문가만 가능. 1개 요청에 1개 견적. 보수+부가세가 합계; 실제 세금·공과금은 제외. 중복 발송 409 QUOTE_EXISTS.",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"#/components/schemas/Quote"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"request_id",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"request_id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"#/components/schemas/QuoteInput"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"/requests/{request_id}/quote",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견적 영역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"listCaseRequests",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"프로젝트 요청·견적 목록",</a:t>
            </a:r>
          </a:p>
          <a:p xmlns:a="http://schemas.openxmlformats.org/drawingml/2006/main">
            <a:r>
              <a:t>  "description": "프로젝트 요청·견적 목록",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"expert_type",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"enum": [</a:t>
            </a:r>
          </a:p>
          <a:p xmlns:a="http://schemas.openxmlformats.org/drawingml/2006/main">
            <a:r>
              <a:t>          "BROKER",</a:t>
            </a:r>
          </a:p>
          <a:p xmlns:a="http://schemas.openxmlformats.org/drawingml/2006/main">
            <a:r>
              <a:t>          "LEGAL",</a:t>
            </a:r>
          </a:p>
          <a:p xmlns:a="http://schemas.openxmlformats.org/drawingml/2006/main">
            <a:r>
              <a:t>          "TAX"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"/cases/{case_id}/requests",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"selectQuote",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"요청·견적"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"구매자가 최종 담당자 선택",</a:t>
            </a:r>
          </a:p>
          <a:p xmlns:a="http://schemas.openxmlformats.org/drawingml/2006/main">
            <a:r>
              <a:t>  "description": "소유 구매자만. 분야별 현재 담당자 1명. 팀 선택·업무·업무 체크리스트·요청/견적 상태·활동을 단일 트랜잭션으로 반영. 교체 시 기존 업무는 REPLACED, 기존 견적 OFFERED, 기존 요청 QUOTED, 기존 문서 권한 false. 현재 체크 완료 수가 1 이상이면 담당자 교체 409 WORK_STARTED. 같은 견적 재선택은 기존 결과 반환. 프로젝트 행 잠금으로 동시 선택 직렬화.",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"#/components/schemas/SelectionResult"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"quote_id",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"quote_id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"/quotes/{quote_id}/selection",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"팀·진행률·단계·활동 요약",</a:t>
            </a:r>
          </a:p>
          <a:p xmlns:a="http://schemas.openxmlformats.org/drawingml/2006/main">
            <a:r>
              <a:t>  "description": "전체 19개 정의가 분모. 현재 선택된 Task 완료 수만 분자. percent=round(완료수/19*100). 미선택도 분모에 포함. 단계 상태는 서버 계산.",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"listEvents",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"최근 활동 기록",</a:t>
            </a:r>
          </a:p>
          <a:p xmlns:a="http://schemas.openxmlformats.org/drawingml/2006/main">
            <a:r>
              <a:t>  "description": "소유 구매자 및 현재 담당 전문가만. created_at,id 내림차순.",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"#/components/schemas/EventPage"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"/cases/{case_id}/events",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팀 영역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"팀·진행률·단계·활동 요약",</a:t>
            </a:r>
          </a:p>
          <a:p xmlns:a="http://schemas.openxmlformats.org/drawingml/2006/main">
            <a:r>
              <a:t>  "description": "전체 19개 정의가 분모. 현재 선택된 Task 완료 수만 분자. percent=round(완료수/19*100). 미선택도 분모에 포함. 단계 상태는 서버 계산.",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B04 단계 영역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"getCaseDashboard",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"팀·진행률·단계·활동 요약",</a:t>
            </a:r>
          </a:p>
          <a:p xmlns:a="http://schemas.openxmlformats.org/drawingml/2006/main">
            <a:r>
              <a:t>  "description": "전체 19개 정의가 분모. 현재 선택된 Task 완료 수만 분자. percent=round(완료수/19*100). 미선택도 분모에 포함. 단계 상태는 서버 계산.",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"/cases/{case_id}/dashboard",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B06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"getWorkspace",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"고객 조건·업무·허용 문서",</a:t>
            </a:r>
          </a:p>
          <a:p xmlns:a="http://schemas.openxmlformats.org/drawingml/2006/main">
            <a:r>
              <a:t>  "description": "프로젝트 구매자 또는 해당 전문가만 조회. documents_allowed=false이면 documents는 빈 배열. phase_order와 lock_reason을 함께 반환.",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"#/components/schemas/Workspace"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"engagement_id",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"engagement_id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"/engagements/{engagement_id}/workspace",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"getExpertDashboard",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"현재 전문가 대시보드",</a:t>
            </a:r>
          </a:p>
          <a:p xmlns:a="http://schemas.openxmlformats.org/drawingml/2006/main">
            <a:r>
              <a:t>  "description": "현재 전문가 대시보드",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"/expert/dashboard",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"listExpertEngagements",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"내가 담당하는 업무",</a:t>
            </a:r>
          </a:p>
          <a:p xmlns:a="http://schemas.openxmlformats.org/drawingml/2006/main">
            <a:r>
              <a:t>  "description": "내가 담당하는 업무",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"#/components/schemas/EngagementPage"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"/expert/engagements",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E02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"listExpertRequests",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"나에게 온 요청",</a:t>
            </a:r>
          </a:p>
          <a:p xmlns:a="http://schemas.openxmlformats.org/drawingml/2006/main">
            <a:r>
              <a:t>  "description": "나에게 온 요청",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"status",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"enum": [</a:t>
            </a:r>
          </a:p>
          <a:p xmlns:a="http://schemas.openxmlformats.org/drawingml/2006/main">
            <a:r>
              <a:t>          "REQUESTED",</a:t>
            </a:r>
          </a:p>
          <a:p xmlns:a="http://schemas.openxmlformats.org/drawingml/2006/main">
            <a:r>
              <a:t>          "QUOTED",</a:t>
            </a:r>
          </a:p>
          <a:p xmlns:a="http://schemas.openxmlformats.org/drawingml/2006/main">
            <a:r>
              <a:t>          "SELECTED"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"/expert/requests",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"getRequest",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"요청·견적"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"요청·견적 상세 조회",</a:t>
            </a:r>
          </a:p>
          <a:p xmlns:a="http://schemas.openxmlformats.org/drawingml/2006/main">
            <a:r>
              <a:t>  "description": "요청·견적 상세 조회",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"#/components/schemas/RequestView"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"request_id",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"request_id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"/requests/{request_id}",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E04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"getWorkspace",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"고객 조건·업무·허용 문서",</a:t>
            </a:r>
          </a:p>
          <a:p xmlns:a="http://schemas.openxmlformats.org/drawingml/2006/main">
            <a:r>
              <a:t>  "description": "프로젝트 구매자 또는 해당 전문가만 조회. documents_allowed=false이면 documents는 빈 배열. phase_order와 lock_reason을 함께 반환.",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"#/components/schemas/Workspace"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"engagement_id",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"engagement_id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"/engagements/{engagement_id}/workspace",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"updateTask",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"업무"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"담당 전문가가 완료 상태 변경",</a:t>
            </a:r>
          </a:p>
          <a:p xmlns:a="http://schemas.openxmlformats.org/drawingml/2006/main">
            <a:r>
              <a:t>  "description": "현재 선택된 담당 전문가만 가능. 세 분야 미선택이면 409 TEAM_INCOMPLETE. 체크 시 모든 앞 단계 완료 필요(409 PHASE_LOCKED). 체크 해제 시 뒤 단계에 완료 항목이 있으면 409 DOWNSTREAM_COMPLETED. 같은 단계 내 순서 자유. 완료자·시간은 서버 기록; 해제 시 null. 프로젝트 행 잠금 하에 확인·갱신·진행률 계산을 원자 수행. 동일 값 재요청은 성공·중복 활동 생성 안 함.",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"#/components/schemas/Dashboard"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"task_id",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"task_id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"completed": {</a:t>
            </a:r>
          </a:p>
          <a:p xmlns:a="http://schemas.openxmlformats.org/drawingml/2006/main">
            <a:r>
              <a:t>              "type": "boolean"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"completed"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"/tasks/{task_id}",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B07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"updateCase",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"구매"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"구매 조건 수정",</a:t>
            </a:r>
          </a:p>
          <a:p xmlns:a="http://schemas.openxmlformats.org/drawingml/2006/main">
            <a:r>
              <a:t>  "description": "소유 구매자만 수정. 최신 조건은 연결된 전문가의 고객 업무 화면에 반영. 변경 활동 기록 생성.",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"#/components/schemas/PurchaseCase"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"#/components/schemas/CaseUpdate"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B08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"createDocument",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"문서"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"문서 메타데이터 등록",</a:t>
            </a:r>
          </a:p>
          <a:p xmlns:a="http://schemas.openxmlformats.org/drawingml/2006/main">
            <a:r>
              <a:t>  "description": "구매자만. 파일명·크기·MIME만 JSON 등록; multipart 업로드와 파일 다운로드는 미제공.",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"#/components/schemas/Document"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"$ref": "#/components/schemas/DocumentInput"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"/cases/{case_id}/documents",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"putDocumentGrant",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"문서"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"문서 목록 공유·철회",</a:t>
            </a:r>
          </a:p>
          <a:p xmlns:a="http://schemas.openxmlformats.org/drawingml/2006/main">
            <a:r>
              <a:t>  "description": "소유 구매자만. 해당 프로젝트 요청 이력이 있는 전문가에게 부여. 프로젝트 문서 전체 목록에 적용. upsert; false 즉시 철회. 미생성 권한은 false.",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"#/components/schemas/DocumentGrant"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"case_id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"expert_id",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"expert_id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"allowed": {</a:t>
            </a:r>
          </a:p>
          <a:p xmlns:a="http://schemas.openxmlformats.org/drawingml/2006/main">
            <a:r>
              <a:t>              "type": "boolean"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"allowed"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"/cases/{case_id}/document-grants/{expert_id}",</a:t>
            </a:r>
          </a:p>
          <a:p xmlns:a="http://schemas.openxmlformats.org/drawingml/2006/main">
            <a:r>
              <a:t>  "method": "PUT"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M01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"listConversations",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"접근 가능한 통합 대화 목록",</a:t>
            </a:r>
          </a:p>
          <a:p xmlns:a="http://schemas.openxmlformats.org/drawingml/2006/main">
            <a:r>
              <a:t>  "description": "구매자는 본인 요청의 모든 대화, 전문가는 본인 요청의 대화만 조회. 후보에게 요청한 즉시 생성; 최종 선택 전도 대화 가능.",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"#/components/schemas/ConversationPage"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"프로젝트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"/conversations",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"listUnifiedMessages",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"통합 메시지 시간순 조회",</a:t>
            </a:r>
          </a:p>
          <a:p xmlns:a="http://schemas.openxmlformats.org/drawingml/2006/main">
            <a:r>
              <a:t>  "description": "접근 가능한 대화의 메시지를 created_at,id 오름차순으로 조회. cursor는 두 값 기반. 전문가가 다른 후보의 대화를 조회할 수 없음.",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"#/components/schemas/MessagePage"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"case_id",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"프로젝트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"/messages",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M02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"listMessages",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"1:1 대화 내역",</a:t>
            </a:r>
          </a:p>
          <a:p xmlns:a="http://schemas.openxmlformats.org/drawingml/2006/main">
            <a:r>
              <a:t>  "description": "1:1 대화 내역",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"#/components/schemas/MessagePage"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"conversation_id",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"conversation_id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"cursor",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"description": "불투명 커서; 생략 시 첫 페이지",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"limit",</a:t>
            </a:r>
          </a:p>
          <a:p xmlns:a="http://schemas.openxmlformats.org/drawingml/2006/main">
            <a:r>
              <a:t>      "in": "query",</a:t>
            </a:r>
          </a:p>
          <a:p xmlns:a="http://schemas.openxmlformats.org/drawingml/2006/main">
            <a:r>
              <a:t>      "required": false,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"integer",</a:t>
            </a:r>
          </a:p>
          <a:p xmlns:a="http://schemas.openxmlformats.org/drawingml/2006/main">
            <a:r>
              <a:t>        "minimum": 1,</a:t>
            </a:r>
          </a:p>
          <a:p xmlns:a="http://schemas.openxmlformats.org/drawingml/2006/main">
            <a:r>
              <a:t>        "maximum": 100,</a:t>
            </a:r>
          </a:p>
          <a:p xmlns:a="http://schemas.openxmlformats.org/drawingml/2006/main">
            <a:r>
              <a:t>        "default": 20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"description": "페이지 크기"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"path": "/conversations/{conversation_id}/messages",</a:t>
            </a:r>
          </a:p>
          <a:p xmlns:a="http://schemas.openxmlformats.org/drawingml/2006/main">
            <a:r>
              <a:t>  "method": "GET"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"sendMessage",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"메시지"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"메시지 전송",</a:t>
            </a:r>
          </a:p>
          <a:p xmlns:a="http://schemas.openxmlformats.org/drawingml/2006/main">
            <a:r>
              <a:t>  "description": "참여자만 전송. sender_id는 인증 사용자에서 결정. 공백만 있으면 400 EMPTY_MESSAGE. 동일 client_message_id와 같은 본문 재전송 시 기존 메시지 반환, 다른 본문은 409 MESSAGE_KEY_CONFLICT. 모든 사용자 입력은 텍스트로 렌더링.",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"201": {</a:t>
            </a:r>
          </a:p>
          <a:p xmlns:a="http://schemas.openxmlformats.org/drawingml/2006/main">
            <a:r>
              <a:t>      "description": "생성 완료",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"#/components/schemas/MessageView"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"parameters":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"name": "conversation_id",</a:t>
            </a:r>
          </a:p>
          <a:p xmlns:a="http://schemas.openxmlformats.org/drawingml/2006/main">
            <a:r>
              <a:t>      "in": "path",</a:t>
            </a:r>
          </a:p>
          <a:p xmlns:a="http://schemas.openxmlformats.org/drawingml/2006/main">
            <a:r>
              <a:t>      "required": true,</a:t>
            </a:r>
          </a:p>
          <a:p xmlns:a="http://schemas.openxmlformats.org/drawingml/2006/main">
            <a:r>
              <a:t>      "description": "conversation_id UUID",</a:t>
            </a:r>
          </a:p>
          <a:p xmlns:a="http://schemas.openxmlformats.org/drawingml/2006/main">
            <a:r>
              <a:t>      "schema": {</a:t>
            </a:r>
          </a:p>
          <a:p xmlns:a="http://schemas.openxmlformats.org/drawingml/2006/main">
            <a:r>
              <a:t>        "type": "string",</a:t>
            </a:r>
          </a:p>
          <a:p xmlns:a="http://schemas.openxmlformats.org/drawingml/2006/main">
            <a:r>
              <a:t>        "format": "uuid"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"body":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1000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"client_message_id":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"format": "uuid"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"body",</a:t>
            </a:r>
          </a:p>
          <a:p xmlns:a="http://schemas.openxmlformats.org/drawingml/2006/main">
            <a:r>
              <a:t>            "client_message_id"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"/conversations/{conversation_id}/messages",</a:t>
            </a:r>
          </a:p>
          <a:p xmlns:a="http://schemas.openxmlformats.org/drawingml/2006/main">
            <a:r>
              <a:t>  "method": "POST"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E05 / 실제 브라우저 캡처. API는 목표 명세이며 현재 데모는 localStorage를 사용합니다.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"updateExpertProfile",</a:t>
            </a:r>
          </a:p>
          <a:p xmlns:a="http://schemas.openxmlformats.org/drawingml/2006/main">
            <a:r>
              <a:t>  "tags": [</a:t>
            </a:r>
          </a:p>
          <a:p xmlns:a="http://schemas.openxmlformats.org/drawingml/2006/main">
            <a:r>
              <a:t>    "전문가"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"summary": "내 사무소명·소개 수정",</a:t>
            </a:r>
          </a:p>
          <a:p xmlns:a="http://schemas.openxmlformats.org/drawingml/2006/main">
            <a:r>
              <a:t>  "description": "내 사무소명·소개 수정",</a:t>
            </a:r>
          </a:p>
          <a:p xmlns:a="http://schemas.openxmlformats.org/drawingml/2006/main">
            <a:r>
              <a:t>  "responses": {</a:t>
            </a:r>
          </a:p>
          <a:p xmlns:a="http://schemas.openxmlformats.org/drawingml/2006/main">
            <a:r>
              <a:t>    "200": {</a:t>
            </a:r>
          </a:p>
          <a:p xmlns:a="http://schemas.openxmlformats.org/drawingml/2006/main">
            <a:r>
              <a:t>      "description": "처리 성공",</a:t>
            </a:r>
          </a:p>
          <a:p xmlns:a="http://schemas.openxmlformats.org/drawingml/2006/main">
            <a:r>
              <a:t>      "content": {</a:t>
            </a:r>
          </a:p>
          <a:p xmlns:a="http://schemas.openxmlformats.org/drawingml/2006/main">
            <a:r>
              <a:t>        "application/json": {</a:t>
            </a:r>
          </a:p>
          <a:p xmlns:a="http://schemas.openxmlformats.org/drawingml/2006/main">
            <a:r>
              <a:t>          "schema": {</a:t>
            </a:r>
          </a:p>
          <a:p xmlns:a="http://schemas.openxmlformats.org/drawingml/2006/main">
            <a:r>
              <a:t>            "$ref": "#/components/schemas/ExpertProfile"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"400": {</a:t>
            </a:r>
          </a:p>
          <a:p xmlns:a="http://schemas.openxmlformats.org/drawingml/2006/main">
            <a:r>
              <a:t>      "$ref": "#/components/responses/BadRequest"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"401": {</a:t>
            </a:r>
          </a:p>
          <a:p xmlns:a="http://schemas.openxmlformats.org/drawingml/2006/main">
            <a:r>
              <a:t>      "$ref": "#/components/responses/Unauthorized"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"403": {</a:t>
            </a:r>
          </a:p>
          <a:p xmlns:a="http://schemas.openxmlformats.org/drawingml/2006/main">
            <a:r>
              <a:t>      "$ref": "#/components/responses/Forbidden"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"404": {</a:t>
            </a:r>
          </a:p>
          <a:p xmlns:a="http://schemas.openxmlformats.org/drawingml/2006/main">
            <a:r>
              <a:t>      "$ref": "#/components/responses/NotFound"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"409": {</a:t>
            </a:r>
          </a:p>
          <a:p xmlns:a="http://schemas.openxmlformats.org/drawingml/2006/main">
            <a:r>
              <a:t>      "$ref": "#/components/responses/Conflict"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"500": {</a:t>
            </a:r>
          </a:p>
          <a:p xmlns:a="http://schemas.openxmlformats.org/drawingml/2006/main">
            <a:r>
              <a:t>      "$ref": "#/components/responses/InternalError"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"requestBody": {</a:t>
            </a:r>
          </a:p>
          <a:p xmlns:a="http://schemas.openxmlformats.org/drawingml/2006/main">
            <a:r>
              <a:t>    "required": true,</a:t>
            </a:r>
          </a:p>
          <a:p xmlns:a="http://schemas.openxmlformats.org/drawingml/2006/main">
            <a:r>
              <a:t>    "content": {</a:t>
            </a:r>
          </a:p>
          <a:p xmlns:a="http://schemas.openxmlformats.org/drawingml/2006/main">
            <a:r>
              <a:t>      "application/json": {</a:t>
            </a:r>
          </a:p>
          <a:p xmlns:a="http://schemas.openxmlformats.org/drawingml/2006/main">
            <a:r>
              <a:t>        "schema": {</a:t>
            </a:r>
          </a:p>
          <a:p xmlns:a="http://schemas.openxmlformats.org/drawingml/2006/main">
            <a:r>
              <a:t>          "type": "object",</a:t>
            </a:r>
          </a:p>
          <a:p xmlns:a="http://schemas.openxmlformats.org/drawingml/2006/main">
            <a:r>
              <a:t>          "properties": {</a:t>
            </a:r>
          </a:p>
          <a:p xmlns:a="http://schemas.openxmlformats.org/drawingml/2006/main">
            <a:r>
              <a:t>            "office_name":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100</a:t>
            </a:r>
          </a:p>
          <a:p xmlns:a="http://schemas.openxmlformats.org/drawingml/2006/main">
            <a:r>
              <a:t>            },</a:t>
            </a:r>
          </a:p>
          <a:p xmlns:a="http://schemas.openxmlformats.org/drawingml/2006/main">
            <a:r>
              <a:t>            "bio": {</a:t>
            </a:r>
          </a:p>
          <a:p xmlns:a="http://schemas.openxmlformats.org/drawingml/2006/main">
            <a:r>
              <a:t>              "type": "string",</a:t>
            </a:r>
          </a:p>
          <a:p xmlns:a="http://schemas.openxmlformats.org/drawingml/2006/main">
            <a:r>
              <a:t>              "minLength": 1,</a:t>
            </a:r>
          </a:p>
          <a:p xmlns:a="http://schemas.openxmlformats.org/drawingml/2006/main">
            <a:r>
              <a:t>              "maxLength": 400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"additionalProperties": false,</a:t>
            </a:r>
          </a:p>
          <a:p xmlns:a="http://schemas.openxmlformats.org/drawingml/2006/main">
            <a:r>
              <a:t>          "required": [</a:t>
            </a:r>
          </a:p>
          <a:p xmlns:a="http://schemas.openxmlformats.org/drawingml/2006/main">
            <a:r>
              <a:t>            "office_name",</a:t>
            </a:r>
          </a:p>
          <a:p xmlns:a="http://schemas.openxmlformats.org/drawingml/2006/main">
            <a:r>
              <a:t>            "bio"</a:t>
            </a:r>
          </a:p>
          <a:p xmlns:a="http://schemas.openxmlformats.org/drawingml/2006/main">
            <a:r>
              <a:t>          ]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"path": "/expert/profile",</a:t>
            </a:r>
          </a:p>
          <a:p xmlns:a="http://schemas.openxmlformats.org/drawingml/2006/main">
            <a:r>
              <a:t>  "method": "PATCH"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근거: 사용자 제공 「판교6반_장민서_집이음-개요 (1).pdf」. 최신 사용자 지시: 19개 업무는 소개에서만 열거하고 이후 화면과 흐름도는 6단계로 요약. UI: 수정된 dist/index.html. API: output/pdf/집이음_제출/판교6반_장민서_집이음-API.yml. 참고자료의 UI 캡처와 API 주석 형식을 적용. 화면은 가상 데이터 데모이며 API는 구현 목표 명세.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e7ab0209c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05fe9d3164624" /><Relationship Type="http://schemas.openxmlformats.org/officeDocument/2006/relationships/slideLayout" Target="/ppt/slideLayouts/slideLayout1.xml" Id="R78fd218358e345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fd218358e345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6ea3e8a55495a" /><Relationship Type="http://schemas.openxmlformats.org/officeDocument/2006/relationships/notesSlide" Target="/ppt/notesSlides/notesSlide1.xml" Id="Re689602838a2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e556a69914906" /><Relationship Type="http://schemas.openxmlformats.org/officeDocument/2006/relationships/notesSlide" Target="/ppt/notesSlides/notesSlide2.xml" Id="R37618ad03e18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bac0728c04361" /><Relationship Type="http://schemas.openxmlformats.org/officeDocument/2006/relationships/notesSlide" Target="/ppt/notesSlides/notesSlide3.xml" Id="R1d2815d502ad40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51b52056843cd" /><Relationship Type="http://schemas.openxmlformats.org/officeDocument/2006/relationships/notesSlide" Target="/ppt/notesSlides/notesSlide4.xml" Id="Rab4b7c84cd5346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9852e84b543bd" /><Relationship Type="http://schemas.openxmlformats.org/officeDocument/2006/relationships/notesSlide" Target="/ppt/notesSlides/notesSlide5.xml" Id="R89b862c990a64c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4bcaf21e64a74" /><Relationship Type="http://schemas.openxmlformats.org/officeDocument/2006/relationships/notesSlide" Target="/ppt/notesSlides/notesSlide6.xml" Id="R106cd799c9b8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01d9fed5d4f63" /><Relationship Type="http://schemas.openxmlformats.org/officeDocument/2006/relationships/notesSlide" Target="/ppt/notesSlides/notesSlide7.xml" Id="R551da99f4a004a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eb401d930401b" /><Relationship Type="http://schemas.openxmlformats.org/officeDocument/2006/relationships/image" Target="/ppt/media/image.png" Id="R5430b98f58624236" /><Relationship Type="http://schemas.openxmlformats.org/officeDocument/2006/relationships/notesSlide" Target="/ppt/notesSlides/notesSlide8.xml" Id="Re7aa422ba10043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362af2ad1455a" /><Relationship Type="http://schemas.openxmlformats.org/officeDocument/2006/relationships/image" Target="/ppt/media/image2.png" Id="Ree3b2fc3a07c4f66" /><Relationship Type="http://schemas.openxmlformats.org/officeDocument/2006/relationships/notesSlide" Target="/ppt/notesSlides/notesSlide9.xml" Id="R8323931deb4244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7dc16856f4c8d" /><Relationship Type="http://schemas.openxmlformats.org/officeDocument/2006/relationships/image" Target="/ppt/media/image3.png" Id="R5e392b96e03743fb" /><Relationship Type="http://schemas.openxmlformats.org/officeDocument/2006/relationships/notesSlide" Target="/ppt/notesSlides/notesSlide10.xml" Id="R5f0134e8b3b34f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712782b9049bc" /><Relationship Type="http://schemas.openxmlformats.org/officeDocument/2006/relationships/image" Target="/ppt/media/image4.png" Id="R2a53f9e97d5c4d6f" /><Relationship Type="http://schemas.openxmlformats.org/officeDocument/2006/relationships/notesSlide" Target="/ppt/notesSlides/notesSlide11.xml" Id="R430d5b24a78a45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21ed22fbb46d5" /><Relationship Type="http://schemas.openxmlformats.org/officeDocument/2006/relationships/image" Target="/ppt/media/image5.png" Id="R617b7a63ede74962" /><Relationship Type="http://schemas.openxmlformats.org/officeDocument/2006/relationships/notesSlide" Target="/ppt/notesSlides/notesSlide12.xml" Id="R3e4c817c207346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10bfff7f849e9" /><Relationship Type="http://schemas.openxmlformats.org/officeDocument/2006/relationships/image" Target="/ppt/media/image6.png" Id="R761188af6a9f40d5" /><Relationship Type="http://schemas.openxmlformats.org/officeDocument/2006/relationships/notesSlide" Target="/ppt/notesSlides/notesSlide13.xml" Id="R6f59fa463e0c42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1a05289294800" /><Relationship Type="http://schemas.openxmlformats.org/officeDocument/2006/relationships/image" Target="/ppt/media/image7.png" Id="R8b2fb2e55b2a4502" /><Relationship Type="http://schemas.openxmlformats.org/officeDocument/2006/relationships/notesSlide" Target="/ppt/notesSlides/notesSlide14.xml" Id="Rbf58ed9e85d248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e745e0958494d" /><Relationship Type="http://schemas.openxmlformats.org/officeDocument/2006/relationships/image" Target="/ppt/media/image8.png" Id="R4d9cb034a2c940cb" /><Relationship Type="http://schemas.openxmlformats.org/officeDocument/2006/relationships/notesSlide" Target="/ppt/notesSlides/notesSlide15.xml" Id="R1153dc62c8fb4e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bd31c63354946" /><Relationship Type="http://schemas.openxmlformats.org/officeDocument/2006/relationships/image" Target="/ppt/media/image9.png" Id="Rf5b8105599744fea" /><Relationship Type="http://schemas.openxmlformats.org/officeDocument/2006/relationships/notesSlide" Target="/ppt/notesSlides/notesSlide16.xml" Id="Re1f10266da9e46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8ef9d889b4ec7" /><Relationship Type="http://schemas.openxmlformats.org/officeDocument/2006/relationships/image" Target="/ppt/media/image10.png" Id="Reba7821164304b5f" /><Relationship Type="http://schemas.openxmlformats.org/officeDocument/2006/relationships/notesSlide" Target="/ppt/notesSlides/notesSlide17.xml" Id="R91ef5864bebf48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b4ab66b794861" /><Relationship Type="http://schemas.openxmlformats.org/officeDocument/2006/relationships/image" Target="/ppt/media/image11.png" Id="R02964ed7c4f24664" /><Relationship Type="http://schemas.openxmlformats.org/officeDocument/2006/relationships/notesSlide" Target="/ppt/notesSlides/notesSlide18.xml" Id="R4d8611a6e5c74f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268f170e948e8" /><Relationship Type="http://schemas.openxmlformats.org/officeDocument/2006/relationships/image" Target="/ppt/media/image12.png" Id="R98eb6785ee4343f5" /><Relationship Type="http://schemas.openxmlformats.org/officeDocument/2006/relationships/notesSlide" Target="/ppt/notesSlides/notesSlide19.xml" Id="Re0559e6dffa748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956aedde24c67" /><Relationship Type="http://schemas.openxmlformats.org/officeDocument/2006/relationships/image" Target="/ppt/media/image13.png" Id="R90da7903556a4fea" /><Relationship Type="http://schemas.openxmlformats.org/officeDocument/2006/relationships/notesSlide" Target="/ppt/notesSlides/notesSlide20.xml" Id="R6899c50dd64a41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0ef84b93e436c" /><Relationship Type="http://schemas.openxmlformats.org/officeDocument/2006/relationships/image" Target="/ppt/media/image14.png" Id="R0962820874b04635" /><Relationship Type="http://schemas.openxmlformats.org/officeDocument/2006/relationships/notesSlide" Target="/ppt/notesSlides/notesSlide21.xml" Id="Rd6bee139a4eb4b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774dd7f404f35" /><Relationship Type="http://schemas.openxmlformats.org/officeDocument/2006/relationships/image" Target="/ppt/media/image15.png" Id="Rc741f1b2d34c4b1f" /><Relationship Type="http://schemas.openxmlformats.org/officeDocument/2006/relationships/notesSlide" Target="/ppt/notesSlides/notesSlide22.xml" Id="R69b7247edefc413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241c6e3a74c32" /><Relationship Type="http://schemas.openxmlformats.org/officeDocument/2006/relationships/image" Target="/ppt/media/image16.png" Id="Rfc7327483ed84b94" /><Relationship Type="http://schemas.openxmlformats.org/officeDocument/2006/relationships/notesSlide" Target="/ppt/notesSlides/notesSlide23.xml" Id="Rd5426ac75fcf4b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d2800af264ab2" /><Relationship Type="http://schemas.openxmlformats.org/officeDocument/2006/relationships/image" Target="/ppt/media/image17.png" Id="R5c455d46db8f4e60" /><Relationship Type="http://schemas.openxmlformats.org/officeDocument/2006/relationships/notesSlide" Target="/ppt/notesSlides/notesSlide24.xml" Id="Rd34424d28c5142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f63ca2b944c8e" /><Relationship Type="http://schemas.openxmlformats.org/officeDocument/2006/relationships/image" Target="/ppt/media/image18.png" Id="R7c8d3edb19054ccc" /><Relationship Type="http://schemas.openxmlformats.org/officeDocument/2006/relationships/notesSlide" Target="/ppt/notesSlides/notesSlide25.xml" Id="Rbdcf824173a14d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db90939464085" /><Relationship Type="http://schemas.openxmlformats.org/officeDocument/2006/relationships/image" Target="/ppt/media/image19.png" Id="Rf0e32e841e9448bd" /><Relationship Type="http://schemas.openxmlformats.org/officeDocument/2006/relationships/notesSlide" Target="/ppt/notesSlides/notesSlide26.xml" Id="R5334f340aff344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def75ddc7431d" /><Relationship Type="http://schemas.openxmlformats.org/officeDocument/2006/relationships/image" Target="/ppt/media/image20.png" Id="R3ae863fb42ee4605" /><Relationship Type="http://schemas.openxmlformats.org/officeDocument/2006/relationships/notesSlide" Target="/ppt/notesSlides/notesSlide27.xml" Id="Rb3f8e93dbd424d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3805b8acb481a" /><Relationship Type="http://schemas.openxmlformats.org/officeDocument/2006/relationships/image" Target="/ppt/media/image21.png" Id="R0960fbefcaf24d85" /><Relationship Type="http://schemas.openxmlformats.org/officeDocument/2006/relationships/image" Target="/ppt/media/image22.png" Id="R1c6d160ecb904b08" /><Relationship Type="http://schemas.openxmlformats.org/officeDocument/2006/relationships/notesSlide" Target="/ppt/notesSlides/notesSlide28.xml" Id="R94f86bb8d3e44eb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2ce85cda549c1" /><Relationship Type="http://schemas.openxmlformats.org/officeDocument/2006/relationships/notesSlide" Target="/ppt/notesSlides/notesSlide29.xml" Id="R05a683bfbef142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578d10c4e40ff" /><Relationship Type="http://schemas.openxmlformats.org/officeDocument/2006/relationships/notesSlide" Target="/ppt/notesSlides/notesSlide30.xml" Id="Rd6ca34dfbde44c8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b1281a6074d32" /><Relationship Type="http://schemas.openxmlformats.org/officeDocument/2006/relationships/notesSlide" Target="/ppt/notesSlides/notesSlide31.xml" Id="R46e4f02406bc43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DC160-35A0-461D-8684-55300196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63A75-E1C3-46E2-BABD-772BC9C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집이음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C521B-66EB-4DB3-9DD9-0C3CA90F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아파트 구매 전문가 연결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CD77-CECB-4317-8150-9884A02D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15F3C-1439-4365-86C8-256C2D3D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02D84-05AC-4CA9-B2C6-8C0B1CCE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1219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3명 선택 후</a:t>
            </a:r>
          </a:p>
          <a:p xmlns:a="http://schemas.openxmlformats.org/drawingml/2006/main">
            <a:pPr>
              <a:def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6단계·19개 업무 진행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8CE8B-67BB-41EA-BC8E-0AEB3F98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143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개요와 사용자 정의</a:t>
            </a:r>
          </a:p>
          <a:p xmlns:a="http://schemas.openxmlformats.org/drawingml/2006/main">
            <a:pPr>
              <a:def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UI 화면 캡처 및 API 연결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DD518-C948-45F9-9C93-1FFCFA92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72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판교6반  장민서</a:t>
            </a:r>
          </a:p>
        </p:txBody>
      </p:sp>
    </p:spTree>
    <p:extLst>
      <p:ext uri="{BB962C8B-B14F-4D97-AF65-F5344CB8AC3E}">
        <p14:creationId xmlns:p14="http://schemas.microsoft.com/office/powerpoint/2010/main" val="1334844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96F15-A01B-45CE-B916-BB96165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766DA-5853-453E-A28D-26D6E4FF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0CEEB-988C-4AA9-9FB1-A4775F5D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37C4E-74A1-4024-B5EE-78D586C1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D10D2-2334-4CF4-9DF5-1BBE235F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2382500" cy="619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0191750"/>
              </a:tblGrid>
              <a:tr h="88446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항목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설계 내용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목적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아파트 구매자가 필요한 전문가를 찾고 구매 진행 상황을 한곳에서 확인한다.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핵심 사용자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첫 주택 구매자, 기존 주택을 보유한 갈아타기 구매자, 공동명의 검토 구매자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서비스 시작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 등록 후 공인중개사·세무사·법무사를 각각 한 명씩 선택한다.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진행 방식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6단계에 속한 19개 업무를 담당 전문가가 확인한다. 구매자는 현재 단계와 다음 할 일을 확인한다.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제공 범위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후보 비교, 요청·견적, 전문가 선택, 단계별 진행 확인, 문서 정보 공유, 1:1 메시지</a:t>
                      </a:r>
                    </a:p>
                  </a:txBody>
                  <a:tcPr marL="152400" marR="152400" marT="114300" marB="95250"/>
                </a:tc>
              </a:tr>
              <a:tr h="88446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제외 범위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세액 자동 판정, 실제 송금, 세금 납부, 신고 제출, 등기 접수 실행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836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19D3F-5BE9-4C40-A766-3F216D4D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C779D-08C5-4AB3-9EDF-BB2E720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처음 소개: 6단계와 19개 업무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79197-82D4-4A36-B824-212089EB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3명 선택 완료 후 시작 · 세부 업무 전체 목록은 이 소개에서만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24FF-8F9A-442B-AF07-606B46D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92917-655C-41F1-8DE1-D681279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2382500" cy="647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8667750"/>
              </a:tblGrid>
              <a:tr h="92528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단계 / 담당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업무 목록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매물·권리관계 검토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 · 3개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매물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권리관계 설명 / 가격·특약 협의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② 계약 전 세무 상담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세무사 · 4개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취득세 중과 가능성 확인 / 주택 수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공동명의 검토 / 증여세 관련 자금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③ 매매계약·실거래 신고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 · 3개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매매계약 체결 확인 / 계약금 지급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실거래 신고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법무사 사전 준비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· 4개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소유권이전등기 서류 확인 / 취득세 예상 내역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국민주택채권 내역 확인 / 등기 관련 비용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⑤ 잔금일 이행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확인 기록 · 3개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잔금 지급 확인 / 매도인 서류 인도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열쇠·주택 인도 확인</a:t>
                      </a:r>
                    </a:p>
                  </a:txBody>
                  <a:tcPr marL="152400" marR="152400" marT="114300" marB="95250"/>
                </a:tc>
              </a:tr>
              <a:tr h="92528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⑥ 취득세·등기 신청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· 2개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취득세 신고·납부 지원 확인</a:t>
                      </a:r>
                    </a:p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소유권이전등기 신청 확인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B0276-2296-439C-ACD8-91D2294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591550"/>
            <a:ext cx="1209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3 + 4 + 3 + 4 + 3 + 2 = 19개. 실제 거래 당사자의 이행과 전문가의 확인 기록을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711690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9EE69-EE35-454B-BDD2-BB4F53B9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7E94-4F2F-4914-AFDF-958A3AC4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페인포인트와 프로젝트 내 솔루션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A07AF-0A34-4DD2-8A75-9F639BF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6A56A-7D69-43A4-8E92-08A2F60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E8CE0-F738-43D2-BF5B-095A52B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123825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4524375"/>
                <a:gridCol w="3905250"/>
              </a:tblGrid>
              <a:tr h="1333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사용자의 어려움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집이음 기능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기대되는 변화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절차와 다음 할 일을 알기 어렵다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 현황과 다음 행동 안내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담당자·진행 가능 여부 표시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단계와 남은 절차를 확인</a:t>
                      </a:r>
                    </a:p>
                  </a:txBody>
                  <a:tcPr marL="152400" marR="152400" marT="114300" marB="9525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전문가를 각각 찾고 비용·범위를 비교하기 어렵다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분야별 후보 비교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보수·부가세·범위가 포함된 견적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같은 항목으로 비교 후 직접 선택</a:t>
                      </a:r>
                    </a:p>
                  </a:txBody>
                  <a:tcPr marL="152400" marR="152400" marT="114300" marB="9525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같은 거래정보를 반복해서 설명한다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 조건을 한 번 입력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연결 전문가에게 최신 조건 공유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재입력 감소</a:t>
                      </a:r>
                    </a:p>
                    <a:p>
                      <a:r>
                        <a:rPr sz="195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문서 공유는 별도 권한으로 통제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6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1A260-51FC-498F-9562-95905B2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F5BA9-5DCA-4955-94AF-123190EE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액터와 이용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DF1BF-EB99-4E4B-AADA-1EEC26E2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5B63C-268F-4712-B1FA-BFF66B47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F5AF2-B64F-4DC3-A3A6-CADDB822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238250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9525000"/>
              </a:tblGrid>
              <a:tr h="1055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액터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이용 가능한 기능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구매자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조건 등록·수정, 후보 비교, 상담 요청, 견적 선택·업무 시작 전 변경, 단계 현황 조회, 문서 정보 등록·삭제·공유 권한 설정, 메시지, 활동 조회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본인 요청 확인·견적 작성, 1·3단계 확인 기록, 공유 조건·허용 문서 조회, 구매자와 대화, 프로필 수정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세무사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본인 요청 확인·견적 작성, 2단계 확인 기록, 공유 조건·허용 문서 조회, 구매자와 대화, 프로필 수정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본인 요청 확인·견적 작성, 4·5·6단계 확인 기록, 공유 조건·허용 문서 조회, 구매자와 대화, 프로필 수정</a:t>
                      </a:r>
                    </a:p>
                  </a:txBody>
                  <a:tcPr marL="152400" marR="152400" marT="114300" marB="95250"/>
                </a:tc>
              </a:tr>
              <a:tr h="10556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관리자 / 외부 시스템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관리자: 비운영 데모 역할 전환·초기화</a:t>
                      </a:r>
                    </a:p>
                    <a:p>
                      <a:r>
                        <a:rPr sz="1800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외부 경계: 브라우저 저장소와 파일 선택기. 향후 서버·파일 저장소·자격 확인 연동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23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9FC66-E09A-42E1-92B9-57F2E4AD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8CC4A-22B7-43E6-B913-BB7356E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전체 UI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6DB00-941C-4871-A3BE-2B9E671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6단계 구매 진행을 중심으로 연결 · 세부 업무 목록은 생략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5FA7B-6E84-4419-B385-D146097F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77F44-67DF-4AC7-8099-3B372A51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131CB-843F-40FA-BAEE-E1F3AB9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5A0CB-02BE-471B-9E9C-CFD8B30F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52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소개 V01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44D76-C14A-4C4C-B992-79370512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185E7-3C59-4816-8899-AB5DE32B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EBEF0-7E2E-455A-A630-B21C3519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52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조건 입력 B01~B03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5B056-254D-4F12-A9F2-F081189C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75E52-B647-4C06-BF3A-1FB07A7E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5A11E-FC2D-4C47-9DA6-1A7435A9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527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비교 V02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98F82-E58C-4059-9CCA-5F20B8CD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6AFCB-298D-46FE-AB6A-3F34EBD8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67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6단계 현황 B04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27212-4670-4044-A470-3C4A12F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5BB15-9D9E-4588-8FD5-595D44D5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76EA6-B052-4995-9AE3-07E1C6F6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67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3명 선택 B04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17868-32B8-45B2-AC3E-BA38E851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291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E9485-BAB8-4939-8CB6-C16B8A3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43375"/>
            <a:ext cx="3667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0"/>
          </a:solidFill>
          <a:ln xmlns:a="http://schemas.openxmlformats.org/drawingml/2006/main" w="9525">
            <a:solidFill>
              <a:srgbClr val="D8E0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64A85-DF07-409F-9B7F-5332A8CA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4672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요청 B05 / 견적 E03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DB4BD-C875-482B-B5CC-BC0EF332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219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후보 선택 후 요청, 전문가 견적 수신 후 분야별 한 명씩 최종 선택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9734B-543E-4CDF-89BA-FD0338C6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1219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구매자 보조 화면: 담당 단계 B06 / 조건 수정 B07 / 문서함 B08 / 메시지 M01·M02</a:t>
            </a:r>
          </a:p>
          <a:p xmlns:a="http://schemas.openxmlformats.org/drawingml/2006/main">
            <a:pPr>
              <a:def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전문가: 대시보드 E01 / 요청 E02 / 견적 E03 / 업무 E04 / 프로필 E05</a:t>
            </a:r>
          </a:p>
          <a:p xmlns:a="http://schemas.openxmlformats.org/drawingml/2006/main">
            <a:pPr>
              <a:def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관리자: 역할 전환 A01 / 초기화 A02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72C16-C8D2-444D-9B5E-DD120E43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433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1246416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37E3A-09C0-4626-B722-AF42E22E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0ADDB-F25E-4173-926F-D5A61BC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진행 흐름: 6단계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C4EE1-353A-4512-8B2F-C802A8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사전 조건: 공인중개사·세무사·법무사 선택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2FBC7-0FEB-4B46-A287-34666641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B5820-800C-4666-B657-FCAD71C8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190750"/>
          <a:ext xmlns:a="http://schemas.openxmlformats.org/drawingml/2006/main" cx="123825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5334000"/>
                <a:gridCol w="5810250"/>
              </a:tblGrid>
              <a:tr h="74839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순서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 단계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담당 / 이동 조건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매물·권리관계 검토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계약 전 세무 상담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세무사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매매계약·실거래 신고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공인중개사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 사전 준비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잔금일 이행 확인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거래 당사자 이행, 법무사 확인 기록</a:t>
                      </a:r>
                    </a:p>
                  </a:txBody>
                  <a:tcPr marL="152400" marR="152400" marT="114300" marB="95250"/>
                </a:tc>
              </a:tr>
              <a:tr h="74839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취득세·등기 신청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법무사. 완료 기준은 등기 신청 확인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00B4B-E5D1-4C81-A1F1-328BD7F3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81925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앞 단계가 끝나야 다음 단계가 열립니다. 같은 단계 안에서는 확인 순서를 제한하지 않습니다.</a:t>
            </a:r>
          </a:p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뒤 단계에 완료 기록이 있으면 앞 단계의 완료 해제를 제한합니다.</a:t>
            </a:r>
          </a:p>
        </p:txBody>
      </p:sp>
    </p:spTree>
    <p:extLst>
      <p:ext uri="{BB962C8B-B14F-4D97-AF65-F5344CB8AC3E}">
        <p14:creationId xmlns:p14="http://schemas.microsoft.com/office/powerpoint/2010/main" val="862110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79144-7EA8-4F97-ADEB-F32C9A73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6BE0C-EC09-4E61-90A0-58ED72BD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서비스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CF981-BCC8-4DB2-9F0A-65C6CCB4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V01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9A2BF-7779-4697-B4E3-16414B7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7807D-756F-42C1-9C94-8E4EEAD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0b98f58624236"/>
          <a:stretch xmlns:a="http://schemas.openxmlformats.org/drawingml/2006/main"/>
        </p:blipFill>
        <p:spPr>
          <a:xfrm xmlns:a="http://schemas.openxmlformats.org/drawingml/2006/main">
            <a:off x="619125" y="2850750"/>
            <a:ext cx="7810500" cy="396637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2FA3E-0750-4F51-8B95-C2456ED0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구매 여정 시작: 조건 입력 B01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 둘러보기: 후보 목록 V02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3605C-7588-4A48-8B88-CE72FC52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2D24F-0A10-4986-9320-E1DE237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1417C-9400-453F-82FE-80C02383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id, role,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21FB7-261D-420F-94D8-8C0A63E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29FF-EBC2-4EED-B1DD-35FBA2B0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BD366-88D4-4F9D-8409-38C0BC3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CasePage: items, next_cursor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89BED-1438-442D-B561-BE14D4C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소개에서만 전체 업무 구성을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004879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63729-15AC-49E5-BB7D-7BA0C9A3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F0A15-9F9A-492E-B6E9-379561F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조건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E8F30-D000-4ABA-A205-1A5394F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C4A9B-5376-46B1-8E60-F0FC769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CBA50-6FE5-48B1-98A9-B1E95B23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b2fc3a07c4f66"/>
          <a:stretch xmlns:a="http://schemas.openxmlformats.org/drawingml/2006/main"/>
        </p:blipFill>
        <p:spPr>
          <a:xfrm xmlns:a="http://schemas.openxmlformats.org/drawingml/2006/main">
            <a:off x="1505920" y="2190750"/>
            <a:ext cx="603691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50E46-DA7D-4ADC-8D90-998F396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다음 단계: 입력값 검사 후 B02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이 단계에서는 프로젝트를 생성하지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534B-6FEE-4AB4-B1F7-3C22C25C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786AC-8377-4336-B81C-4868AC4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name (string, 필수)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E1141-B46E-49E7-A362-F547A625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id,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5D5C1-A814-4600-A9B2-D8AFB973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name은 서버 저장 시 사용. 최종 확인 전에는 입력값을 로컬 상태로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175158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A16DC-386D-4CF2-B26E-11D30D53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473F5-AB8F-4F48-B889-A4A0814C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자금·일정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0C869-BC58-4EA7-BB4D-39700CEA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32D05-AFE3-429C-A4A2-1752C85C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DC58-CFAC-4397-AD7D-71011F2F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92b96e03743fb"/>
          <a:stretch xmlns:a="http://schemas.openxmlformats.org/drawingml/2006/main"/>
        </p:blipFill>
        <p:spPr>
          <a:xfrm xmlns:a="http://schemas.openxmlformats.org/drawingml/2006/main">
            <a:off x="1501255" y="2190750"/>
            <a:ext cx="604624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678EC-4551-469B-A942-4434E1DF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이전: B01, 다음: B03 확인 화면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자금 구성·명의 계획은 선택, 잔금일은 생략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0CF3E-7702-4FE2-A9EC-AADB3BD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별도 API 호출 없음. funding, ownership, target_closing_date를 최종 생성 요청에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9912230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3DB26-3101-43BB-B53C-9CCAE28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148D8-F9C2-4215-AB54-9704E012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확인과 프로젝트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90476-A03E-4649-83C9-0F3CCDAB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B03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7373A-15CE-4C63-8EFA-C18D7BF9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69E0D-60BA-4F05-9033-1CFCFBEE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3f9e97d5c4d6f"/>
          <a:stretch xmlns:a="http://schemas.openxmlformats.org/drawingml/2006/main"/>
        </p:blipFill>
        <p:spPr>
          <a:xfrm xmlns:a="http://schemas.openxmlformats.org/drawingml/2006/main">
            <a:off x="1186561" y="2190750"/>
            <a:ext cx="6675627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45413-4987-4A16-92DA-B369D31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프로젝트 만들기: 저장 후 B04로 이동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실패 시 입력값 유지, 오류 필드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2A525-8D1C-493D-819E-64405BC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C703-89CF-42BF-8448-930B5D7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CaseInput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title, region, budget_krw 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00FC8-8A85-40CF-9137-92E82AEF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PurchaseCase: id, buyer_id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67F5A-1114-4F96-B8AE-E8E3955D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15BFF-FBEB-4365-85B3-FD517F68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name (1~50자)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4313C-B9FC-452A-9903-FB19EAF7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E63CF-EB99-45D7-B7E5-0A36DE42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예산은 만원 입력을 원 단위로 변환. 두 저장 요청의 실패를 각각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6882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079F4-C83D-444C-8CA1-604F93E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6F09A-08B5-40DA-9643-C623E41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후보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44DA9-11A8-4F7B-941C-2654E4D9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V02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8205B-5B12-46AB-BAD7-51DE13EB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E29AA-DAF9-4466-B379-C3F5F5E4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b7a63ede74962"/>
          <a:stretch xmlns:a="http://schemas.openxmlformats.org/drawingml/2006/main"/>
        </p:blipFill>
        <p:spPr>
          <a:xfrm xmlns:a="http://schemas.openxmlformats.org/drawingml/2006/main">
            <a:off x="619125" y="2337138"/>
            <a:ext cx="7810500" cy="499359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292DC-CC9E-4200-B3D6-92CD7E9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분야 필터: 해당 후보 표시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상담·견적 요청: B05 모달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4DB92-85A5-4268-99BE-2461047B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DF062-6847-45AC-B1AE-65079427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expert_type?, case_id?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C4539-2E95-4040-976E-810F610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ExpertPage: items, next_cursor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51485-8D59-4692-9CFA-25E3C376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/experts/{expert_id}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67A64-4D52-4BF3-8FE3-32652FF2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expert_id (UUID)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20488-DD68-4F4B-AA81-1B1BA6C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ExpertView: profile, name, 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9BAF0-392F-45F6-829A-5EF7F772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필터는 BROKER / LEGAL / TAX. 후보 목록 조회만으로 담당자가 정해지지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903390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9EC25-C7C8-4570-9BC8-48516C6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EF5EB-1116-4030-B1B4-5810DAD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상담·견적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F94D7-E028-471D-9B4F-E1FFE7CA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B05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C3CEF-B23D-4738-B605-7A53385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3D7C4-37AB-46F1-AFD4-98E35B76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188af6a9f40d5"/>
          <a:stretch xmlns:a="http://schemas.openxmlformats.org/drawingml/2006/main"/>
        </p:blipFill>
        <p:spPr>
          <a:xfrm xmlns:a="http://schemas.openxmlformats.org/drawingml/2006/main">
            <a:off x="811326" y="2190750"/>
            <a:ext cx="7426098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BEFD1-D7F6-428D-8828-8E585A20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요청 보내기: 요청·대화 생성 후 견적 영역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취소: 저장 없이 닫기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4F115-340A-4F80-B638-B25F3180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/cases/{case_id}/requests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F86DC-2574-40E9-8D83-19F898FC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expert_id, 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51BE4-75DE-4B34-862C-F6C34B7E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RequestView: request, quote,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03670-4448-443F-A97C-8A637BE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AB40D-9AA6-47F1-8BA1-822BEAA8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85B50-6ED0-4AC1-9A5E-5EEE057E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PurchaseCase: 구매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1EDC4-E8E3-4557-A9A3-F331B8B2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400: 요청 내용 오류 / 409: 같은 전문가에게 중복 요청. 공유될 구매 조건을 사전에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091569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F4E77-E18B-4968-BDEC-CE0C0ED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38EC1-5E35-423F-802B-517093A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견적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3D445-C714-47EC-A95A-43340FEC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E03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7B366-D023-4D65-97CC-DAED6F21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FE509-759B-4C63-BF03-9801119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fb2e55b2a4502"/>
          <a:stretch xmlns:a="http://schemas.openxmlformats.org/drawingml/2006/main"/>
        </p:blipFill>
        <p:spPr>
          <a:xfrm xmlns:a="http://schemas.openxmlformats.org/drawingml/2006/main">
            <a:off x="1466570" y="2190750"/>
            <a:ext cx="611561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4EEDB-C67B-4D58-BB12-7AC7386B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견적 보내기: 구매자 요청 목록에 반영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보수·부가세와 세금·공과금은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6AE41-B796-4C19-8545-394890C8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/requests/{request_id}/quote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EF7F0-3B54-4BBE-BB72-3EB6061A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request_id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fee_krw, vat_krw,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estimated_days,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5198F-0935-4AFF-9EAF-D513D38C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Quote: id, status,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93DE8-BA1B-41DB-A6F8-B6137C8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필수값 오류는 400, 이미 견적이 있거나 요청 상태가 바뀌면 409. 금액은 정수 원 단위입니다.</a:t>
            </a:r>
          </a:p>
        </p:txBody>
      </p:sp>
    </p:spTree>
    <p:extLst>
      <p:ext uri="{BB962C8B-B14F-4D97-AF65-F5344CB8AC3E}">
        <p14:creationId xmlns:p14="http://schemas.microsoft.com/office/powerpoint/2010/main" val="11003728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BD88A-919A-4AA6-9EE7-9CFE5FA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912BE-D272-4022-988C-BC87C4F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견적 확인과 담당자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F80CB-D836-433C-9651-7A213C4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견적 영역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856C4-004B-4D4A-BFA4-708038D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2C4D2-A99B-46C7-975B-4639C881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cb034a2c940cb"/>
          <a:stretch xmlns:a="http://schemas.openxmlformats.org/drawingml/2006/main"/>
        </p:blipFill>
        <p:spPr>
          <a:xfrm xmlns:a="http://schemas.openxmlformats.org/drawingml/2006/main">
            <a:off x="619125" y="3060586"/>
            <a:ext cx="7810500" cy="354670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3F6EE-9260-49F9-8C4B-2F31F7D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이 전문가 선택하기: 해당 분야의 담당자로 확정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업무 시작 전에는 같은 분야의 다른 견적으로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D971E-07C7-4CC1-8823-E1398FE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188D5-11ED-45CE-B1D3-79E240AE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expert_type?,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0AC3F-C500-4329-860F-F5EE3000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RequestPage: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DB4A9-F82B-462E-840E-B863C7E1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/quotes/{quote_id}/selection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D1C33-F343-4CAC-890C-271FBC28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quote_id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E15E6-742D-4952-8989-5BA8BAD3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SelectionResult: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selection, engagement,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62525-8B6F-4438-8ADA-BB37AEF7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업무가 시작된 뒤 담당자 변경은 409. 견적 합계는 fee_krw + vat_krw입니다.</a:t>
            </a:r>
          </a:p>
        </p:txBody>
      </p:sp>
    </p:spTree>
    <p:extLst>
      <p:ext uri="{BB962C8B-B14F-4D97-AF65-F5344CB8AC3E}">
        <p14:creationId xmlns:p14="http://schemas.microsoft.com/office/powerpoint/2010/main" val="10878615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F02B1-26B3-4FEF-8773-4B6C23D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0650-BDB4-4E47-BBA3-F75EC885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프로젝트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AB7B4-97F3-4082-9B95-75A158C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EBF69-29EA-4C63-BCBE-7346ED89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E5F06-A74A-4F1E-ABA1-C53242A2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8105599744fea"/>
          <a:stretch xmlns:a="http://schemas.openxmlformats.org/drawingml/2006/main"/>
        </p:blipFill>
        <p:spPr>
          <a:xfrm xmlns:a="http://schemas.openxmlformats.org/drawingml/2006/main">
            <a:off x="864577" y="2190750"/>
            <a:ext cx="7319596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BBEEA-67B5-43AB-B0DE-12E961A9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상단에서 전문가 선택 현황·진행률·완료 단계를 확인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바로가기는 같은 화면의 해당 영역으로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97128-1ABC-4BFA-80C4-14002D50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60ED1-0280-4447-AEE0-09783E9C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2B8DF-66D2-4196-BC74-7AAD019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Dashboard: team, team_ready,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overall_progress, phases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100CC-18CF-439A-8B58-C061A5B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41F0C-234A-41FD-9B2E-19C319A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7972-5926-4270-AC79-7CC5BEF5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EventPage: items, next_cursor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5C139-307F-4420-B45F-A18C2FAC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스크롤 바로가기는 API 호출이 아닙니다. 현재 단계는 완료 여부로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14318669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9D883-3596-4CE0-B299-960B55CF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E1189-B269-47DC-B0FF-E1C4CD0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나의 필수 전문가 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208AF-87C1-44B5-85F0-5AA2C42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팀 영역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16C29-7E33-4075-B9C3-7766F03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3DA03-3754-4824-85BE-8CC7FB1B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821164304b5f"/>
          <a:stretch xmlns:a="http://schemas.openxmlformats.org/drawingml/2006/main"/>
        </p:blipFill>
        <p:spPr>
          <a:xfrm xmlns:a="http://schemas.openxmlformats.org/drawingml/2006/main">
            <a:off x="619125" y="3254395"/>
            <a:ext cx="7810500" cy="31590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AE0D4-38AB-4812-9AF0-958C86D7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분야별 한 명씩 선택한 결과를 표시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업무 확인: B06 / 미선택: 해당 분야 V02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FAD4A-27F8-4D34-95C1-CB12F0C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2E508-54FD-4B6D-96E4-0DF9F2C5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B9D2A-DA4E-4E97-90B6-DF91B736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team[]: expert, expert_name,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engagement, progress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team_ready: boolean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7D0EC-EB98-4BA0-9419-B2774581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세 분야 선택이 끝나야 업무를 시작합니다. 세무사 포함은 집이음 정책이며 법적 필수 선임을 의미하지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31808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9B4F6-0C69-41EA-8586-63345E6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C708A-7E22-4077-8B99-B7258F5F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6단계 구매 진행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01B41-6EED-4396-AF16-8EB1953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B04 단계 영역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3F710-D1CE-4B1D-B46E-5B70C1E0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53FF8-79BB-489A-B67A-E8C70383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64ed7c4f24664"/>
          <a:stretch xmlns:a="http://schemas.openxmlformats.org/drawingml/2006/main"/>
        </p:blipFill>
        <p:spPr>
          <a:xfrm xmlns:a="http://schemas.openxmlformats.org/drawingml/2006/main">
            <a:off x="2009134" y="2190750"/>
            <a:ext cx="5030482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1243D-74F0-4960-9699-7497CA9B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6개 단계명·담당자·상태·진행률만 표시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담당자 대화: 해당 전문가의 M02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30DE1-20F7-4273-AB27-190AD34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/cases/{case_id}/dashboard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7AF51-F073-4903-AA37-F777F3B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588C7-80ED-4080-B99B-FC56F1D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phases[]: phase_order, title,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owner_type, status,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3A537-67C9-4567-9263-A27A3B5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LOCKED: 대기 / OPEN: 진행 중 / COMPLETED: 완료. task_titles는 개요 화면에서 펼쳐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935479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57BAE-8A11-465D-A418-C59136D9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19F37-D77F-4EAB-B941-D5E1BCEB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구매자의 담당 단계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B877F-A415-4BE2-995A-913ACF72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B06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145C2-4930-488A-85F4-81D0F767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32D25-3911-4065-BE08-C6FA3AF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b6785ee4343f5"/>
          <a:stretch xmlns:a="http://schemas.openxmlformats.org/drawingml/2006/main"/>
        </p:blipFill>
        <p:spPr>
          <a:xfrm xmlns:a="http://schemas.openxmlformats.org/drawingml/2006/main">
            <a:off x="1315567" y="2190750"/>
            <a:ext cx="6417616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DA3A9-342F-40E7-90E7-4F52621B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기본 화면은 담당 단계만 요약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세부 업무 확인을 누르면 해당 단계 내용을 펼침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0BCBD-B70D-421E-8A11-5586E521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/engagements/</a:t>
            </a:r>
          </a:p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{engagement_id}/workspace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E554C-9F65-4503-B59D-3B93994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engagement_id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794C5-933B-4701-9654-DFD6A74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Workspace: tasks,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purchase_case, 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DBEF7-4C1C-41D9-B8F7-19CCE4B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구매자는 읽기 전용입니다. 실제 확인 기록은 해당 전문가만 변경할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774767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57A48-E8D5-4F46-BD29-60486AA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7ABE7-0277-4488-A593-CA2BC8A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업무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45B72-A22C-4CD9-9790-FFF4D98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AB208-85AC-4098-B36D-6DE7D7E1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8AD3-BC2C-47DB-B360-B0C3E4FB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a7903556a4fea"/>
          <a:stretch xmlns:a="http://schemas.openxmlformats.org/drawingml/2006/main"/>
        </p:blipFill>
        <p:spPr>
          <a:xfrm xmlns:a="http://schemas.openxmlformats.org/drawingml/2006/main">
            <a:off x="843223" y="2190750"/>
            <a:ext cx="7362303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E295C-EA62-4B2D-8F97-183CBFB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새 요청 확인: E02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업무 관리: E04 / 프로필 설정: E05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D4422-2B78-471A-B59D-F42E237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/expert/dashboard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88FE-4975-463F-90B6-35B97C3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없음. 현재 전문가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3095A-CCD4-4481-8A9C-22C24A37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ExpertDashboard: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new_request_count, requests 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D2090-E621-474C-A076-F3BC6C0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/expert/engagements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CC058-DFF8-4E6A-9836-F80A6B08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64B78-435E-4388-890B-9FD3D1C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EngagementPage: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EACFC-5AD3-49F0-8A14-FFFBB4E0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본인에게 온 요청과 선택된 업무만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4773660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62B1C-BC22-4642-8461-C4F0273E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82561-36F1-48A7-9F8C-DEE1B19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요청·견적 목록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6F9E2-135E-4E58-AA4C-1EA34E2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26647-F66D-4A19-9796-777EAB5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9DFF7-AC4C-48B8-AA87-981EB62A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2820874b04635"/>
          <a:stretch xmlns:a="http://schemas.openxmlformats.org/drawingml/2006/main"/>
        </p:blipFill>
        <p:spPr>
          <a:xfrm xmlns:a="http://schemas.openxmlformats.org/drawingml/2006/main">
            <a:off x="619125" y="2756473"/>
            <a:ext cx="7810500" cy="41549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7636B-D28A-492B-9E89-FD9F36D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구매 조건과 요청 내용을 확인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견적 작성: E03 / 선택된 업무: E04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AD8E5-183C-4B7F-9004-72F1CCB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/expert/requests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D95D9-5663-4956-86A1-B304BD6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status?,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A3600-635C-48B9-B79B-FCD71347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RequestPage: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09E8-B637-419A-A942-C6E52288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/requests/{request_id}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80961-3073-4E7E-B452-5CF9CD0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request_id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5F33E-C5D0-40DF-B712-59144CC6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RequestView: request, quote,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engagement, buyer_name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4F1E8-4440-4F16-8D9D-32942A25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REQUESTED / QUOTED / SELECTED로 구분합니다. 화면의 진행·완료 표시는 Engagement 상태와 함께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1385130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82426-EE52-4112-BD31-8A5C162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6B1C1-148B-4403-AFD6-04BBF80E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전문가의 단계별 업무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8F0F-0B8F-43CE-AAE4-189D232D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E04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C8AB3-6E00-494B-A26A-D58D1D95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504BC-D47C-40E1-93A3-CAF07DE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1f1b2d34c4b1f"/>
          <a:stretch xmlns:a="http://schemas.openxmlformats.org/drawingml/2006/main"/>
        </p:blipFill>
        <p:spPr>
          <a:xfrm xmlns:a="http://schemas.openxmlformats.org/drawingml/2006/main">
            <a:off x="1402701" y="2190750"/>
            <a:ext cx="6243347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2B228-9BB3-4F53-891C-ADE94092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담당 단계만 표시, 세부 업무는 접은 상태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펼친 항목의 체크 변경 후 구매자 현황에 반영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83543-3635-487F-A109-09EE032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/engagements/</a:t>
            </a:r>
          </a:p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{engagement_id}/workspace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44645-6BFC-4AAD-9881-9E74DB0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engagement_id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B3DA2-CFE5-4E8A-BD84-C076A39C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Workspace: tasks, documents,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documents_allowed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C9AB-0308-4094-AAAD-D13799A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/tasks/{task_id}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D83B1-480D-4055-805F-2C534C8C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task_id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completed (boolean)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E87A7-B712-4568-92A1-143C1AE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Dashboard: phases,</a:t>
            </a:r>
          </a:p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overall_progress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704F-6C6A-49EF-952F-583CC08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403: 담당자 아님 / 409: 팀 미완성, 선행 단계 미완료, 후속 완료 기록 존재.</a:t>
            </a:r>
          </a:p>
        </p:txBody>
      </p:sp>
    </p:spTree>
    <p:extLst>
      <p:ext uri="{BB962C8B-B14F-4D97-AF65-F5344CB8AC3E}">
        <p14:creationId xmlns:p14="http://schemas.microsoft.com/office/powerpoint/2010/main" val="1979763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8E3D6-7139-4894-A5B5-8AD1C0A0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6D78B-4397-454F-AAD1-B132A027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구매 조건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63AC1-5925-472B-9A05-3C41CA07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B07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A9F9B-7C2E-4EDB-942D-BE72DF6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0639E-6260-422D-A374-8887388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327483ed84b94"/>
          <a:stretch xmlns:a="http://schemas.openxmlformats.org/drawingml/2006/main"/>
        </p:blipFill>
        <p:spPr>
          <a:xfrm xmlns:a="http://schemas.openxmlformats.org/drawingml/2006/main">
            <a:off x="1729607" y="2190750"/>
            <a:ext cx="5589536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99E29-0359-478C-95C6-D8FE6777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변경사항 저장: 프로젝트와 전문가 공유 조건 갱신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취소: 변경하지 않고 닫기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CD128-A2C7-4231-B850-622C0A1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/cases/{case_id}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BAE6D-BDE9-470B-B083-3CE8AD9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CaseUpdate (변경 필드)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60EF1-98E7-4271-9DC8-5E0926C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PurchaseCase: 최신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3A58D-F928-4B5E-8473-490DD577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금액·일정·명의 계획의 최신 값을 공유합니다. 기존 대화 내용 자체를 덮어쓰지는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433713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6E67B-D327-4E4F-805A-25A0608D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26AB0-434E-4A02-8DCF-759E7EF0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문서 정보와 공유 권한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5AD02-44BE-43C0-A836-DA66F3D3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B08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FEBF8-9AED-45C6-A37C-D4446DE9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685F3-40CB-4F08-A95E-53980DF8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55d46db8f4e60"/>
          <a:stretch xmlns:a="http://schemas.openxmlformats.org/drawingml/2006/main"/>
        </p:blipFill>
        <p:spPr>
          <a:xfrm xmlns:a="http://schemas.openxmlformats.org/drawingml/2006/main">
            <a:off x="1030671" y="2190750"/>
            <a:ext cx="6987408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25EF4-C936-4571-884E-57F02BB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문서 추가: 메타데이터 등록 / 삭제: 목록 제거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체크박스: 해당 전문가의 문서 목록 열람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BF641-E814-4CF4-8FEC-44F6AAC2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/cases/{case_id}/documents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CE3A4-B082-4DB9-97E8-C9FC240C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file_name, size_bytes, mime_type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92EA5-6409-423A-92F6-BF1C16AA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Document: id, file_name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34B2B-6B45-4E33-8CC0-223D5B94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PUT /cases/</a:t>
            </a:r>
          </a:p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{case_id}/document-grants/{expert_id}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E3F6A-DBA2-4CE8-9C28-395EF613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case_id, expert_id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allowed (boolean)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4B2F4-0DEA-49B9-AF72-B5253E3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DocumentGrant: allowed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1E1D1-06A3-42A4-85F6-75E422FB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조회: GET /cases/{case_id}/documents 및 /document-grants. 삭제: DELETE /documents/{document_id} (204). 원문 파일은 저장하지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19328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B1E44-9AAE-46C1-A8FE-9614C11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928E6-0DA8-4A08-AD1A-A70A319A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통합 메시지 센터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27E9-5A3B-436D-89F7-3188B408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M01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4588D-D8A9-4A58-B442-61F9601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B2E61-D7D6-4D21-AA0F-2066DB6F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d3edb19054ccc"/>
          <a:stretch xmlns:a="http://schemas.openxmlformats.org/drawingml/2006/main"/>
        </p:blipFill>
        <p:spPr>
          <a:xfrm xmlns:a="http://schemas.openxmlformats.org/drawingml/2006/main">
            <a:off x="634521" y="2190750"/>
            <a:ext cx="7779707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AA6E-BD07-45A3-8B84-CEEE1C4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전체 대화에서 최신 메시지를 확인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전문가를 선택하면 1:1 대화 M02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E7326-8D81-447E-9022-49DC2F8D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15C59-FD7B-424A-A0BC-49A13275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case_id?,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B3425-0EA0-434C-8E33-9077CE26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ConversationPage: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DFF28-D977-4215-B621-42E6EAC5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51A47-7CE6-43C2-85C4-68B42361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case_id?, cursor?, limit?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9CC4E-0533-4F43-8120-D91CBE72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MessagePage: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B349E-70E5-4E7D-91CA-4C0EED3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요청을 보낸 후보와 선택된 담당자의 대화를 모두 유지합니다. 참여자가 아닌 전문가의 대화는 보이지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889621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30C5E-2A46-491E-A716-650794B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32F25-B22B-42CC-9D7E-0B473A0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전문가와 1:1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1D601-769D-4EA1-A9F3-2286FDBA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M02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4B8A-5830-4832-B32F-FC92EEF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AE0B2-1AFD-450B-A40F-06F824E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32e841e9448bd"/>
          <a:stretch xmlns:a="http://schemas.openxmlformats.org/drawingml/2006/main"/>
        </p:blipFill>
        <p:spPr>
          <a:xfrm xmlns:a="http://schemas.openxmlformats.org/drawingml/2006/main">
            <a:off x="680884" y="2190750"/>
            <a:ext cx="7686982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2E7A7-2CD2-4ED6-80E3-EA8D4561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전송: 메시지 저장 후 대화에 추가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실패 시 내용 유지, 같은 중복 방지 키로 재시도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EF617-A70A-4CCE-A15C-13577AC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/conversations/</a:t>
            </a:r>
          </a:p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{conversation_id}/messages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4626E-4D42-4E28-80FB-78A2265F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conversation_id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Query: cursor?, limit?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FD34D-A7A8-47B4-97AF-AAA86D51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MessagePage: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2D6D3-A1AF-47B7-8CD9-14098C4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/conversations/</a:t>
            </a:r>
          </a:p>
          <a:p xmlns:a="http://schemas.openxmlformats.org/drawingml/2006/main">
            <a:pPr>
              <a:def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{conversation_id}/messages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FD4C1-E7FC-411D-A1D1-4F55172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Path: conversation_id</a:t>
            </a:r>
          </a:p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body, client_message_id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6ECBD-54F4-40AB-B541-561DB40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48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201 응답: Message: id, body, created_at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A7682-4A8A-42FA-B8F4-A913F26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0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body는 공백 제거 후 1~1000자. 대화 참여 권한이 없으면 403.</a:t>
            </a:r>
          </a:p>
        </p:txBody>
      </p:sp>
    </p:spTree>
    <p:extLst>
      <p:ext uri="{BB962C8B-B14F-4D97-AF65-F5344CB8AC3E}">
        <p14:creationId xmlns:p14="http://schemas.microsoft.com/office/powerpoint/2010/main" val="6054381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DE0F3-DDA3-4FCF-B150-17EE3F6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081EB-E921-403B-9C03-574D2284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전문가 프로필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EB5F-131C-48C8-90C8-092F7BF9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E05    빨강: API 요청   초록: 응답과 화면 동작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16E31-F258-464C-829D-DCE91A19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C68BA-077F-40E6-AEEF-CD05C161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863fb42ee4605"/>
          <a:stretch xmlns:a="http://schemas.openxmlformats.org/drawingml/2006/main"/>
        </p:blipFill>
        <p:spPr>
          <a:xfrm xmlns:a="http://schemas.openxmlformats.org/drawingml/2006/main">
            <a:off x="1146208" y="2190750"/>
            <a:ext cx="6756334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D29E0-D862-462F-A252-DABCAA4C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76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저장: 구매자 후보 목록의 소개에 반영</a:t>
            </a:r>
          </a:p>
          <a:p xmlns:a="http://schemas.openxmlformats.org/drawingml/2006/main">
            <a:pPr>
              <a:def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실명·자격 검증은 별도 연동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880DB-A66C-4BC8-97C2-807D3995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PATCH /expert/profile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8826D-D7A0-4CAE-99E6-DC72CFE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office_name, bio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97602-26E5-4A1B-971D-43778D02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ExpertProfile: office_name, bio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EA542-501F-48A1-9A36-A046C458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7767A"/>
                </a:solidFill>
                <a:latin typeface="Arial Unicode MS"/>
                <a:ea typeface="Arial Unicode MS"/>
                <a:cs typeface="Arial Unicode MS"/>
              </a:rPr>
              <a:t>office_name은 1~100자, bio는 1~400자입니다.</a:t>
            </a:r>
          </a:p>
        </p:txBody>
      </p:sp>
    </p:spTree>
    <p:extLst>
      <p:ext uri="{BB962C8B-B14F-4D97-AF65-F5344CB8AC3E}">
        <p14:creationId xmlns:p14="http://schemas.microsoft.com/office/powerpoint/2010/main" val="1831747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CDAB6-28F6-496A-BDC7-884BC3EB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AA205-3199-4715-ACEE-1A291E84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데모 역할 전환과 초기화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C8538-AE5F-4B4E-BCC0-B0AC091C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UI 흐름 · A01 / A02 · 운영 환경에서는 비활성화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D11E6-3E03-4154-84EA-67F47058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97D29-1AA6-4D7D-8CF4-BE10A1E7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0fbefcaf24d85"/>
          <a:stretch xmlns:a="http://schemas.openxmlformats.org/drawingml/2006/main"/>
        </p:blipFill>
        <p:spPr>
          <a:xfrm xmlns:a="http://schemas.openxmlformats.org/drawingml/2006/main">
            <a:off x="666750" y="2420541"/>
            <a:ext cx="7715250" cy="492919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d160ecb904b08"/>
          <a:stretch xmlns:a="http://schemas.openxmlformats.org/drawingml/2006/main"/>
        </p:blipFill>
        <p:spPr>
          <a:xfrm xmlns:a="http://schemas.openxmlformats.org/drawingml/2006/main">
            <a:off x="1238250" y="4354862"/>
            <a:ext cx="6572250" cy="23392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36E0E-6F1A-4899-91A0-4C7148B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GET /demo/actors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3F00A-82EC-4782-9AE5-40E2A67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입력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3EF17-5507-484A-8279-6C99C0DA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User[]: id, role,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36AD1-73FA-4501-89FB-BA0AD002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291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/demo/context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EFD7F-6CAE-4A6A-BE1D-40101FA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91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actor_id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2CC12-67C4-420A-8E36-E79847B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53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User: id, role,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33337-906B-4160-BF3D-B2E19FA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76275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E3027"/>
                </a:solidFill>
                <a:latin typeface="Arial Unicode MS"/>
                <a:ea typeface="Arial Unicode MS"/>
                <a:cs typeface="Arial Unicode MS"/>
              </a:rPr>
              <a:t>POST /demo/reset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42F03-9CF7-4A88-AEE8-C00DBE20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5247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Body: confirm =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6956C-22C8-4D22-AF16-35639942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286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200 응답: reset: boolean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3637DE-0ABE-44C2-9F8F-F20952D4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역할 전환: 구매자 또는 전문가 화면</a:t>
            </a:r>
          </a:p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초기화 취소: 데이터 유지</a:t>
            </a:r>
          </a:p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초기화 확인: 데모 데이터 삭제 후 서비스 소개</a:t>
            </a:r>
          </a:p>
        </p:txBody>
      </p:sp>
    </p:spTree>
    <p:extLst>
      <p:ext uri="{BB962C8B-B14F-4D97-AF65-F5344CB8AC3E}">
        <p14:creationId xmlns:p14="http://schemas.microsoft.com/office/powerpoint/2010/main" val="15995722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9DEC0-09D0-43A5-B59D-77103BC8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A0AD2-74AA-45AE-A1E0-C9400EF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오류·예외 화면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68C2-C24A-43F9-90A8-A0A9C53E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BFAAB-9318-4482-8124-FE1112B4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6BD20-A348-420C-B07E-B7D79D54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123825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1809750"/>
                <a:gridCol w="5524500"/>
              </a:tblGrid>
              <a:tr h="84364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상황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HTTP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처리와 복귀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필수값·금액·메시지 형식 오류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400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입력값 유지, 해당 필드에 이유 표시 후 재입력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세션 만료 / 타인 자료 접근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401 / 403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인증 복구 안내 / 권한 없음 안내. 민감 정보는 표시하지 않음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삭제되었거나 없는 요청·문서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목록 새로고침 후 유효한 항목으로 복귀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중복 요청 / 담당자 변경 제한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409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요청·견적 상태를 다시 조회하고 제한 사유 안내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팀 미완성 / 선행 단계 미완료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409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체크는 변경하지 않고 필요한 전문가 선택·앞 단계로 안내</a:t>
                      </a:r>
                    </a:p>
                  </a:txBody>
                  <a:tcPr marL="152400" marR="152400" marT="114300" marB="95250"/>
                </a:tc>
              </a:tr>
              <a:tr h="843643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서버 실패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500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입력 유지, 재시도. 메시지는 중복 방지 키 재사용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C67CF-B15A-4405-862A-C350F6F4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48650"/>
            <a:ext cx="1219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공통 오류 응답: code, message, request_id, field_errors[] (선택)</a:t>
            </a:r>
          </a:p>
        </p:txBody>
      </p:sp>
    </p:spTree>
    <p:extLst>
      <p:ext uri="{BB962C8B-B14F-4D97-AF65-F5344CB8AC3E}">
        <p14:creationId xmlns:p14="http://schemas.microsoft.com/office/powerpoint/2010/main" val="17286739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CB095-3995-4AD4-A059-FB71EA30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BDEE6-D7E1-4CCF-971F-3CBD1C7C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UI와 API 데이터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781A6-41FE-4904-A9BE-69ACF2DF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4EC69-DC63-419D-AA46-190EFDB9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A33CF-3D96-43CF-8DD8-D74FD846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2382500" cy="623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8382000"/>
              </a:tblGrid>
              <a:tr h="89126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 표시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API 필드와 처리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구매 예산 70,000만원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budget_krw = 700000000 (integer, 원 단위)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보유 주택 2채 이상 / 잔금일 미정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home_count = 2 (범주 값) / target_closing_date = null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 견적 합계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fee_krw + vat_krw. 세금·공과금과 별도 표시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단계 표시 / 진행률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phases[].phase_order, status, progress.percent</a:t>
                      </a:r>
                    </a:p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단계의 상세 업무는 필요한 경우에만 펼침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파일 크기 / 대화 시간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size_bytes를 KB로 표시 / created_at UTC를 한국시간으로 표시</a:t>
                      </a:r>
                    </a:p>
                  </a:txBody>
                  <a:tcPr marL="152400" marR="152400" marT="114300" marB="95250"/>
                </a:tc>
              </a:tr>
              <a:tr h="89126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구현 범위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현재 UI는 브라우저 저장 데모. 제시한 API는 서버 연동 목표 명세이며 실제 호출 완료를 의미하지 않음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3843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FB323-D9DE-4CFD-A208-F82AA6EA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2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B13"/>
          </a:solidFill>
          <a:ln xmlns:a="http://schemas.openxmlformats.org/drawingml/2006/main" w="9525">
            <a:solidFill>
              <a:srgbClr val="F77B1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D48FB-CD8F-440D-A41E-B68B1BD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28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02C30"/>
                </a:solidFill>
                <a:latin typeface="Arial Unicode MS"/>
                <a:ea typeface="Arial Unicode MS"/>
                <a:cs typeface="Arial Unicode MS"/>
              </a:rPr>
              <a:t>기능과 화면의 대응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43A53-2DD8-4C79-9502-8D948A98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6659"/>
                </a:solidFill>
                <a:latin typeface="Arial Unicode MS"/>
                <a:ea typeface="Arial Unicode MS"/>
                <a:cs typeface="Arial Unicode MS"/>
              </a:rPr>
              <a:t>서비스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D39FC-57D1-493D-99AE-0358585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201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집이음   판교6반 장민서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98175-BA0A-4C4B-AB39-9BADBA3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9020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88186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2382500" cy="609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524250"/>
                <a:gridCol w="4667250"/>
              </a:tblGrid>
              <a:tr h="87085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기능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화면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API 연결</a:t>
                      </a:r>
                    </a:p>
                  </a:txBody>
                  <a:tcPr marL="152400" marR="152400" marT="114300" marB="95250">
                    <a:solidFill>
                      <a:srgbClr val="216659"/>
                    </a:solidFill>
                  </a:tcPr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전문가 검색 / 조건 등록·수정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V01·V02 / B01~B03·B07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계정, 전문가, 구매 프로젝트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요청·견적 / 분야별 선택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B05·B04 / E01~E03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ServiceRequest, Quote, TeamSelection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6단계 진행 확인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B04·B06 / E04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Dashboard, Workspace, Task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문서 메타데이터·공유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B08 / E04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Document, DocumentGrant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대화 / 최근 활동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M01·M02 / B04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Conversation, Message, AuditEvent</a:t>
                      </a:r>
                    </a:p>
                  </a:txBody>
                  <a:tcPr marL="152400" marR="152400" marT="114300" marB="95250"/>
                </a:tc>
              </a:tr>
              <a:tr h="87085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프로필 / 데모 관리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E05 / A01·A02</a:t>
                      </a:r>
                    </a:p>
                  </a:txBody>
                  <a:tcPr marL="152400" marR="152400" marT="114300" marB="952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C3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ExpertProfile, demo context</a:t>
                      </a:r>
                    </a:p>
                  </a:txBody>
                  <a:tcPr marL="152400" marR="152400" marT="11430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399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2026-09-16T07:50:22.8270000Z</dcterms:created>
  <dcterms:modified xsi:type="dcterms:W3CDTF">2026-09-16T07:50:22.8270000Z</dcterms:modified>
</coreProperties>
</file>