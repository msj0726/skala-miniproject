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f8139970cf43f4" /><Relationship Type="http://schemas.openxmlformats.org/officeDocument/2006/relationships/extended-properties" Target="/docProps/app.xml" Id="Radfea68732384b97" /><Relationship Type="http://schemas.openxmlformats.org/officeDocument/2006/relationships/officeDocument" Target="/ppt/presentation.xml" Id="R9a08bf4a15c244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ab9534f37c4358"/>
  </p:sldMasterIdLst>
  <p:notesMasterIdLst>
    <p:notesMasterId xmlns:r="http://schemas.openxmlformats.org/officeDocument/2006/relationships" r:id="R6bf26f60a0f44ed9"/>
  </p:notesMasterIdLst>
  <p:sldIdLst>
    <p:sldId xmlns:r="http://schemas.openxmlformats.org/officeDocument/2006/relationships" id="256" r:id="R72d5136ed96747ec"/>
    <p:sldId xmlns:r="http://schemas.openxmlformats.org/officeDocument/2006/relationships" id="257" r:id="R6b842bbce95141e5"/>
    <p:sldId xmlns:r="http://schemas.openxmlformats.org/officeDocument/2006/relationships" id="258" r:id="Rb81cb977ddcc4937"/>
    <p:sldId xmlns:r="http://schemas.openxmlformats.org/officeDocument/2006/relationships" id="259" r:id="R4c96fbed57014045"/>
    <p:sldId xmlns:r="http://schemas.openxmlformats.org/officeDocument/2006/relationships" id="260" r:id="R8c852e3bffa04e7b"/>
    <p:sldId xmlns:r="http://schemas.openxmlformats.org/officeDocument/2006/relationships" id="261" r:id="R15471ab2272b44a4"/>
    <p:sldId xmlns:r="http://schemas.openxmlformats.org/officeDocument/2006/relationships" id="262" r:id="Raecdec1f5deb4c46"/>
    <p:sldId xmlns:r="http://schemas.openxmlformats.org/officeDocument/2006/relationships" id="263" r:id="R988ed83d1fd34b0e"/>
    <p:sldId xmlns:r="http://schemas.openxmlformats.org/officeDocument/2006/relationships" id="264" r:id="Rd699c105c01c4fb8"/>
    <p:sldId xmlns:r="http://schemas.openxmlformats.org/officeDocument/2006/relationships" id="265" r:id="R38f03239e86e4226"/>
    <p:sldId xmlns:r="http://schemas.openxmlformats.org/officeDocument/2006/relationships" id="266" r:id="R021f81d0d27c45c2"/>
    <p:sldId xmlns:r="http://schemas.openxmlformats.org/officeDocument/2006/relationships" id="267" r:id="R793e41b537fa42b9"/>
    <p:sldId xmlns:r="http://schemas.openxmlformats.org/officeDocument/2006/relationships" id="268" r:id="Rf81fbaae5de8486c"/>
    <p:sldId xmlns:r="http://schemas.openxmlformats.org/officeDocument/2006/relationships" id="269" r:id="Ra4714725162a42a5"/>
    <p:sldId xmlns:r="http://schemas.openxmlformats.org/officeDocument/2006/relationships" id="270" r:id="Rf7ec8f1a560146a4"/>
    <p:sldId xmlns:r="http://schemas.openxmlformats.org/officeDocument/2006/relationships" id="271" r:id="R3d4aba6ae39f4415"/>
    <p:sldId xmlns:r="http://schemas.openxmlformats.org/officeDocument/2006/relationships" id="272" r:id="Rc005aeaeb19b4a50"/>
    <p:sldId xmlns:r="http://schemas.openxmlformats.org/officeDocument/2006/relationships" id="273" r:id="Ra6db04afde404c59"/>
    <p:sldId xmlns:r="http://schemas.openxmlformats.org/officeDocument/2006/relationships" id="274" r:id="Raff152d1e584466f"/>
    <p:sldId xmlns:r="http://schemas.openxmlformats.org/officeDocument/2006/relationships" id="275" r:id="R9f82d515984c4911"/>
    <p:sldId xmlns:r="http://schemas.openxmlformats.org/officeDocument/2006/relationships" id="276" r:id="Rb98f6432bed14bf9"/>
    <p:sldId xmlns:r="http://schemas.openxmlformats.org/officeDocument/2006/relationships" id="277" r:id="R187a6b0b926c4da8"/>
    <p:sldId xmlns:r="http://schemas.openxmlformats.org/officeDocument/2006/relationships" id="278" r:id="Rf90ce3645f4d47f2"/>
    <p:sldId xmlns:r="http://schemas.openxmlformats.org/officeDocument/2006/relationships" id="279" r:id="R9f751fc4acc44b89"/>
    <p:sldId xmlns:r="http://schemas.openxmlformats.org/officeDocument/2006/relationships" id="280" r:id="R9d968a2dfb404f13"/>
    <p:sldId xmlns:r="http://schemas.openxmlformats.org/officeDocument/2006/relationships" id="281" r:id="R8dafacda78a44eb5"/>
    <p:sldId xmlns:r="http://schemas.openxmlformats.org/officeDocument/2006/relationships" id="282" r:id="R9f85bd59e059411c"/>
    <p:sldId xmlns:r="http://schemas.openxmlformats.org/officeDocument/2006/relationships" id="283" r:id="R6a56899ba5c34ec9"/>
    <p:sldId xmlns:r="http://schemas.openxmlformats.org/officeDocument/2006/relationships" id="284" r:id="R55fb04ca356645b9"/>
    <p:sldId xmlns:r="http://schemas.openxmlformats.org/officeDocument/2006/relationships" id="285" r:id="R0f2ed44a230440d5"/>
    <p:sldId xmlns:r="http://schemas.openxmlformats.org/officeDocument/2006/relationships" id="286" r:id="R8edbbbef3ebb4341"/>
  </p:sldIdLst>
  <p:sldSz cx="13716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0ee13fe7fe47bc" /><Relationship Type="http://schemas.openxmlformats.org/officeDocument/2006/relationships/slideMaster" Target="/ppt/slideMasters/slideMaster1.xml" Id="Ra8ab9534f37c4358" /><Relationship Type="http://schemas.openxmlformats.org/officeDocument/2006/relationships/notesMaster" Target="/ppt/notesMasters/notesMaster1.xml" Id="R6bf26f60a0f44ed9" /><Relationship Type="http://schemas.openxmlformats.org/officeDocument/2006/relationships/presProps" Target="/ppt/presProps.xml" Id="Re25f726cec1749e9" /><Relationship Type="http://schemas.openxmlformats.org/officeDocument/2006/relationships/tableStyles" Target="/ppt/tableStyles.xml" Id="Rafe7d9e5d03d41f7" /><Relationship Type="http://schemas.openxmlformats.org/officeDocument/2006/relationships/slide" Target="/ppt/slides/slide1.xml" Id="R72d5136ed96747ec" /><Relationship Type="http://schemas.openxmlformats.org/officeDocument/2006/relationships/slide" Target="/ppt/slides/slide2.xml" Id="R6b842bbce95141e5" /><Relationship Type="http://schemas.openxmlformats.org/officeDocument/2006/relationships/slide" Target="/ppt/slides/slide3.xml" Id="Rb81cb977ddcc4937" /><Relationship Type="http://schemas.openxmlformats.org/officeDocument/2006/relationships/slide" Target="/ppt/slides/slide4.xml" Id="R4c96fbed57014045" /><Relationship Type="http://schemas.openxmlformats.org/officeDocument/2006/relationships/slide" Target="/ppt/slides/slide5.xml" Id="R8c852e3bffa04e7b" /><Relationship Type="http://schemas.openxmlformats.org/officeDocument/2006/relationships/slide" Target="/ppt/slides/slide6.xml" Id="R15471ab2272b44a4" /><Relationship Type="http://schemas.openxmlformats.org/officeDocument/2006/relationships/slide" Target="/ppt/slides/slide7.xml" Id="Raecdec1f5deb4c46" /><Relationship Type="http://schemas.openxmlformats.org/officeDocument/2006/relationships/slide" Target="/ppt/slides/slide8.xml" Id="R988ed83d1fd34b0e" /><Relationship Type="http://schemas.openxmlformats.org/officeDocument/2006/relationships/slide" Target="/ppt/slides/slide9.xml" Id="Rd699c105c01c4fb8" /><Relationship Type="http://schemas.openxmlformats.org/officeDocument/2006/relationships/slide" Target="/ppt/slides/slide10.xml" Id="R38f03239e86e4226" /><Relationship Type="http://schemas.openxmlformats.org/officeDocument/2006/relationships/slide" Target="/ppt/slides/slide11.xml" Id="R021f81d0d27c45c2" /><Relationship Type="http://schemas.openxmlformats.org/officeDocument/2006/relationships/slide" Target="/ppt/slides/slide12.xml" Id="R793e41b537fa42b9" /><Relationship Type="http://schemas.openxmlformats.org/officeDocument/2006/relationships/slide" Target="/ppt/slides/slide13.xml" Id="Rf81fbaae5de8486c" /><Relationship Type="http://schemas.openxmlformats.org/officeDocument/2006/relationships/slide" Target="/ppt/slides/slide14.xml" Id="Ra4714725162a42a5" /><Relationship Type="http://schemas.openxmlformats.org/officeDocument/2006/relationships/slide" Target="/ppt/slides/slide15.xml" Id="Rf7ec8f1a560146a4" /><Relationship Type="http://schemas.openxmlformats.org/officeDocument/2006/relationships/slide" Target="/ppt/slides/slide16.xml" Id="R3d4aba6ae39f4415" /><Relationship Type="http://schemas.openxmlformats.org/officeDocument/2006/relationships/slide" Target="/ppt/slides/slide17.xml" Id="Rc005aeaeb19b4a50" /><Relationship Type="http://schemas.openxmlformats.org/officeDocument/2006/relationships/slide" Target="/ppt/slides/slide18.xml" Id="Ra6db04afde404c59" /><Relationship Type="http://schemas.openxmlformats.org/officeDocument/2006/relationships/slide" Target="/ppt/slides/slide19.xml" Id="Raff152d1e584466f" /><Relationship Type="http://schemas.openxmlformats.org/officeDocument/2006/relationships/slide" Target="/ppt/slides/slide20.xml" Id="R9f82d515984c4911" /><Relationship Type="http://schemas.openxmlformats.org/officeDocument/2006/relationships/slide" Target="/ppt/slides/slide21.xml" Id="Rb98f6432bed14bf9" /><Relationship Type="http://schemas.openxmlformats.org/officeDocument/2006/relationships/slide" Target="/ppt/slides/slide22.xml" Id="R187a6b0b926c4da8" /><Relationship Type="http://schemas.openxmlformats.org/officeDocument/2006/relationships/slide" Target="/ppt/slides/slide23.xml" Id="Rf90ce3645f4d47f2" /><Relationship Type="http://schemas.openxmlformats.org/officeDocument/2006/relationships/slide" Target="/ppt/slides/slide24.xml" Id="R9f751fc4acc44b89" /><Relationship Type="http://schemas.openxmlformats.org/officeDocument/2006/relationships/slide" Target="/ppt/slides/slide25.xml" Id="R9d968a2dfb404f13" /><Relationship Type="http://schemas.openxmlformats.org/officeDocument/2006/relationships/slide" Target="/ppt/slides/slide26.xml" Id="R8dafacda78a44eb5" /><Relationship Type="http://schemas.openxmlformats.org/officeDocument/2006/relationships/slide" Target="/ppt/slides/slide27.xml" Id="R9f85bd59e059411c" /><Relationship Type="http://schemas.openxmlformats.org/officeDocument/2006/relationships/slide" Target="/ppt/slides/slide28.xml" Id="R6a56899ba5c34ec9" /><Relationship Type="http://schemas.openxmlformats.org/officeDocument/2006/relationships/slide" Target="/ppt/slides/slide29.xml" Id="R55fb04ca356645b9" /><Relationship Type="http://schemas.openxmlformats.org/officeDocument/2006/relationships/slide" Target="/ppt/slides/slide30.xml" Id="R0f2ed44a230440d5" /><Relationship Type="http://schemas.openxmlformats.org/officeDocument/2006/relationships/slide" Target="/ppt/slides/slide31.xml" Id="R8edbbbef3ebb43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43f15a42fa41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24391113ee46e1" /><Relationship Type="http://schemas.openxmlformats.org/officeDocument/2006/relationships/notesMaster" Target="/ppt/notesMasters/notesMaster1.xml" Id="R39e32d68c8394c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95a324f2f8427e" /><Relationship Type="http://schemas.openxmlformats.org/officeDocument/2006/relationships/notesMaster" Target="/ppt/notesMasters/notesMaster1.xml" Id="R74bc56b6ad3140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2077bec82a4147" /><Relationship Type="http://schemas.openxmlformats.org/officeDocument/2006/relationships/notesMaster" Target="/ppt/notesMasters/notesMaster1.xml" Id="R4dee553f987044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5124a5d72e4d5b" /><Relationship Type="http://schemas.openxmlformats.org/officeDocument/2006/relationships/notesMaster" Target="/ppt/notesMasters/notesMaster1.xml" Id="R02e64b4087324f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cc0dfd3b1943f3" /><Relationship Type="http://schemas.openxmlformats.org/officeDocument/2006/relationships/notesMaster" Target="/ppt/notesMasters/notesMaster1.xml" Id="R98c05985704547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9be4d91ad945bf" /><Relationship Type="http://schemas.openxmlformats.org/officeDocument/2006/relationships/notesMaster" Target="/ppt/notesMasters/notesMaster1.xml" Id="Ra3840ed060e748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355fdcfe5f404a" /><Relationship Type="http://schemas.openxmlformats.org/officeDocument/2006/relationships/notesMaster" Target="/ppt/notesMasters/notesMaster1.xml" Id="R9d6751f444f645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fcde66a27d4ca5" /><Relationship Type="http://schemas.openxmlformats.org/officeDocument/2006/relationships/notesMaster" Target="/ppt/notesMasters/notesMaster1.xml" Id="R1937839c83ae4b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cbb9beb1754570" /><Relationship Type="http://schemas.openxmlformats.org/officeDocument/2006/relationships/notesMaster" Target="/ppt/notesMasters/notesMaster1.xml" Id="Reddc51ddaca845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eb752c2ece44c3" /><Relationship Type="http://schemas.openxmlformats.org/officeDocument/2006/relationships/notesMaster" Target="/ppt/notesMasters/notesMaster1.xml" Id="R061e6f2d8cfd4b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99ba3d225b412c" /><Relationship Type="http://schemas.openxmlformats.org/officeDocument/2006/relationships/notesMaster" Target="/ppt/notesMasters/notesMaster1.xml" Id="R12779292d7d44e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d42eae02ff49ee" /><Relationship Type="http://schemas.openxmlformats.org/officeDocument/2006/relationships/notesMaster" Target="/ppt/notesMasters/notesMaster1.xml" Id="Rbabca34fdb6742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44503de15f45b7" /><Relationship Type="http://schemas.openxmlformats.org/officeDocument/2006/relationships/notesMaster" Target="/ppt/notesMasters/notesMaster1.xml" Id="R7256cbfafd1241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d3d24cb46a4a98" /><Relationship Type="http://schemas.openxmlformats.org/officeDocument/2006/relationships/notesMaster" Target="/ppt/notesMasters/notesMaster1.xml" Id="R942421a81e8344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c13aa4a7bb41a9" /><Relationship Type="http://schemas.openxmlformats.org/officeDocument/2006/relationships/notesMaster" Target="/ppt/notesMasters/notesMaster1.xml" Id="Rab6dd68ab9a543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d84627cb6f48a7" /><Relationship Type="http://schemas.openxmlformats.org/officeDocument/2006/relationships/notesMaster" Target="/ppt/notesMasters/notesMaster1.xml" Id="R959990faea4d49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aaa3faf9f44014" /><Relationship Type="http://schemas.openxmlformats.org/officeDocument/2006/relationships/notesMaster" Target="/ppt/notesMasters/notesMaster1.xml" Id="Rcd9aa8954fb246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d005e129cb249c6" /><Relationship Type="http://schemas.openxmlformats.org/officeDocument/2006/relationships/notesMaster" Target="/ppt/notesMasters/notesMaster1.xml" Id="R07f36de42ed64e3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9ad5b2571894767" /><Relationship Type="http://schemas.openxmlformats.org/officeDocument/2006/relationships/notesMaster" Target="/ppt/notesMasters/notesMaster1.xml" Id="R5b733789ac094e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9be649182d24d75" /><Relationship Type="http://schemas.openxmlformats.org/officeDocument/2006/relationships/notesMaster" Target="/ppt/notesMasters/notesMaster1.xml" Id="R182b77b21d214e9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95a16a389b42ee" /><Relationship Type="http://schemas.openxmlformats.org/officeDocument/2006/relationships/notesMaster" Target="/ppt/notesMasters/notesMaster1.xml" Id="R9cee60d2641f415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c736162ea1a455c" /><Relationship Type="http://schemas.openxmlformats.org/officeDocument/2006/relationships/notesMaster" Target="/ppt/notesMasters/notesMaster1.xml" Id="Rec1f76895ce940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c20dbd28f734b9e" /><Relationship Type="http://schemas.openxmlformats.org/officeDocument/2006/relationships/notesMaster" Target="/ppt/notesMasters/notesMaster1.xml" Id="R53f41f34b7e847f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846cbdd2914da7" /><Relationship Type="http://schemas.openxmlformats.org/officeDocument/2006/relationships/notesMaster" Target="/ppt/notesMasters/notesMaster1.xml" Id="Ra3207c52c40d4c0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41a62dbdf6441d2" /><Relationship Type="http://schemas.openxmlformats.org/officeDocument/2006/relationships/notesMaster" Target="/ppt/notesMasters/notesMaster1.xml" Id="Rcc3a6d6431b9450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64a219edc3b40fc" /><Relationship Type="http://schemas.openxmlformats.org/officeDocument/2006/relationships/notesMaster" Target="/ppt/notesMasters/notesMaster1.xml" Id="R1acb32b5ce2c42e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924a0d02fd04ace" /><Relationship Type="http://schemas.openxmlformats.org/officeDocument/2006/relationships/notesMaster" Target="/ppt/notesMasters/notesMaster1.xml" Id="R158f6451b09e4c1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cb5252ba10346ba" /><Relationship Type="http://schemas.openxmlformats.org/officeDocument/2006/relationships/notesMaster" Target="/ppt/notesMasters/notesMaster1.xml" Id="R1a4dde9164194b9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47ffce3bc8e48c6" /><Relationship Type="http://schemas.openxmlformats.org/officeDocument/2006/relationships/notesMaster" Target="/ppt/notesMasters/notesMaster1.xml" Id="R1357f3cf87994c0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80491758def4a6f" /><Relationship Type="http://schemas.openxmlformats.org/officeDocument/2006/relationships/notesMaster" Target="/ppt/notesMasters/notesMaster1.xml" Id="Rb12f8aed73fd4f3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d2cd4094695481d" /><Relationship Type="http://schemas.openxmlformats.org/officeDocument/2006/relationships/notesMaster" Target="/ppt/notesMasters/notesMaster1.xml" Id="Rd0061420a72f4b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V01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"getMe",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"계정"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"현재 사용자 조회",</a:t>
            </a:r>
          </a:p>
          <a:p xmlns:a="http://schemas.openxmlformats.org/drawingml/2006/main">
            <a:r>
              <a:t>  "description": "현재 사용자 조회",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"#/components/schemas/User"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"/me",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"listCases",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"내 구매 프로젝트 목록",</a:t>
            </a:r>
          </a:p>
          <a:p xmlns:a="http://schemas.openxmlformats.org/drawingml/2006/main">
            <a:r>
              <a:t>  "description": "내 구매 프로젝트 목록",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"#/components/schemas/CasePage"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B01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"updateMe",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"계정"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"구매자 표시 이름 저장",</a:t>
            </a:r>
          </a:p>
          <a:p xmlns:a="http://schemas.openxmlformats.org/drawingml/2006/main">
            <a:r>
              <a:t>  "description": "구매자 표시 이름 저장",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"#/components/schemas/User"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"name":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"minLength": 1,</a:t>
            </a:r>
          </a:p>
          <a:p xmlns:a="http://schemas.openxmlformats.org/drawingml/2006/main">
            <a:r>
              <a:t>              "maxLength": 50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"name"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"/me",</a:t>
            </a:r>
          </a:p>
          <a:p xmlns:a="http://schemas.openxmlformats.org/drawingml/2006/main">
            <a:r>
              <a:t>  "method": "PATCH"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B02 / 실제 브라우저 캡처. API는 목표 명세이며 현재 데모는 localStorage를 사용합니다.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B03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"createCase",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"구매 프로젝트 생성",</a:t>
            </a:r>
          </a:p>
          <a:p xmlns:a="http://schemas.openxmlformats.org/drawingml/2006/main">
            <a:r>
              <a:t>  "description": "buyer_id는 인증 계정에서 결정. workflow_version=3. 담당자는 자동 선택하지 않는다. 초기 팀 슬롯 3개는 미선택으로 표시.",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"201": {</a:t>
            </a:r>
          </a:p>
          <a:p xmlns:a="http://schemas.openxmlformats.org/drawingml/2006/main">
            <a:r>
              <a:t>      "description": "생성 완료",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"#/components/schemas/PurchaseCase"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"$ref": "#/components/schemas/CaseInput"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"/cases",</a:t>
            </a:r>
          </a:p>
          <a:p xmlns:a="http://schemas.openxmlformats.org/drawingml/2006/main">
            <a:r>
              <a:t>  "method": "POST"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"updateMe",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"계정"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"구매자 표시 이름 저장",</a:t>
            </a:r>
          </a:p>
          <a:p xmlns:a="http://schemas.openxmlformats.org/drawingml/2006/main">
            <a:r>
              <a:t>  "description": "구매자 표시 이름 저장",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"#/components/schemas/User"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"name":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"minLength": 1,</a:t>
            </a:r>
          </a:p>
          <a:p xmlns:a="http://schemas.openxmlformats.org/drawingml/2006/main">
            <a:r>
              <a:t>              "maxLength": 50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"name"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"/me",</a:t>
            </a:r>
          </a:p>
          <a:p xmlns:a="http://schemas.openxmlformats.org/drawingml/2006/main">
            <a:r>
              <a:t>  "method": "PATCH"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V02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"listExperts",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"전문가"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"전문가 검색·분야 필터",</a:t>
            </a:r>
          </a:p>
          <a:p xmlns:a="http://schemas.openxmlformats.org/drawingml/2006/main">
            <a:r>
              <a:t>  "description": "공개 프로필 조회. case_id가 없으면 비회원 조회 가능. 데모는 분야별 3명, 총 9명. 전문가 총수는 운영 시 제한하지 않는다.",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"#/components/schemas/ExpertPage"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"expert_type",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"enum": [</a:t>
            </a:r>
          </a:p>
          <a:p xmlns:a="http://schemas.openxmlformats.org/drawingml/2006/main">
            <a:r>
              <a:t>          "BROKER",</a:t>
            </a:r>
          </a:p>
          <a:p xmlns:a="http://schemas.openxmlformats.org/drawingml/2006/main">
            <a:r>
              <a:t>          "LEGAL",</a:t>
            </a:r>
          </a:p>
          <a:p xmlns:a="http://schemas.openxmlformats.org/drawingml/2006/main">
            <a:r>
              <a:t>          "TAX"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"선택 여부 표시에 사용할 내 프로젝트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"/experts",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"getExpert",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"전문가"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"전문가 공개 정보",</a:t>
            </a:r>
          </a:p>
          <a:p xmlns:a="http://schemas.openxmlformats.org/drawingml/2006/main">
            <a:r>
              <a:t>  "description": "전문가 공개 정보",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"#/components/schemas/ExpertView"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"expert_id",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"expert_id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"/experts/{expert_id}",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B05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"createRequest",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"후보에게 상담·견적 요청",</a:t>
            </a:r>
          </a:p>
          <a:p xmlns:a="http://schemas.openxmlformats.org/drawingml/2006/main">
            <a:r>
              <a:t>  "description": "같은 case_id+expert_id 중복은 409 DUPLICATE_REQUEST. 요청과 Conversation을 함께 생성. 여러 후보에게 요청 가능; 담당자 확정 아님.",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"201": {</a:t>
            </a:r>
          </a:p>
          <a:p xmlns:a="http://schemas.openxmlformats.org/drawingml/2006/main">
            <a:r>
              <a:t>      "description": "생성 완료",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"#/components/schemas/RequestView"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"expert_id":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"format": "uuid"</a:t>
            </a:r>
          </a:p>
          <a:p xmlns:a="http://schemas.openxmlformats.org/drawingml/2006/main">
            <a:r>
              <a:t>            },</a:t>
            </a:r>
          </a:p>
          <a:p xmlns:a="http://schemas.openxmlformats.org/drawingml/2006/main">
            <a:r>
              <a:t>            "note":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"minLength": 1,</a:t>
            </a:r>
          </a:p>
          <a:p xmlns:a="http://schemas.openxmlformats.org/drawingml/2006/main">
            <a:r>
              <a:t>              "maxLength": 2000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"expert_id",</a:t>
            </a:r>
          </a:p>
          <a:p xmlns:a="http://schemas.openxmlformats.org/drawingml/2006/main">
            <a:r>
              <a:t>            "note"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"/cases/{case_id}/requests",</a:t>
            </a:r>
          </a:p>
          <a:p xmlns:a="http://schemas.openxmlformats.org/drawingml/2006/main">
            <a:r>
              <a:t>  "method": "POST"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"getCase",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"구매 조건 조회",</a:t>
            </a:r>
          </a:p>
          <a:p xmlns:a="http://schemas.openxmlformats.org/drawingml/2006/main">
            <a:r>
              <a:t>  "description": "구매 조건 조회",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"#/components/schemas/PurchaseCase"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"/cases/{case_id}",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E03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"createQuote",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"요청·견적"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"담당 후보가 견적 발송",</a:t>
            </a:r>
          </a:p>
          <a:p xmlns:a="http://schemas.openxmlformats.org/drawingml/2006/main">
            <a:r>
              <a:t>  "description": "요청받은 전문가만 가능. 1개 요청에 1개 견적. 보수+부가세가 합계; 실제 세금·공과금은 제외. 중복 발송 409 QUOTE_EXISTS.",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"201": {</a:t>
            </a:r>
          </a:p>
          <a:p xmlns:a="http://schemas.openxmlformats.org/drawingml/2006/main">
            <a:r>
              <a:t>      "description": "생성 완료",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"#/components/schemas/Quote"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"request_id",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"request_id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"$ref": "#/components/schemas/QuoteInput"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"/requests/{request_id}/quote",</a:t>
            </a:r>
          </a:p>
          <a:p xmlns:a="http://schemas.openxmlformats.org/drawingml/2006/main">
            <a:r>
              <a:t>  "method": "POST"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B04 견적 영역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"listCaseRequests",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"프로젝트 요청·견적 목록",</a:t>
            </a:r>
          </a:p>
          <a:p xmlns:a="http://schemas.openxmlformats.org/drawingml/2006/main">
            <a:r>
              <a:t>  "description": "프로젝트 요청·견적 목록",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"#/components/schemas/RequestPage"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"expert_type",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"enum": [</a:t>
            </a:r>
          </a:p>
          <a:p xmlns:a="http://schemas.openxmlformats.org/drawingml/2006/main">
            <a:r>
              <a:t>          "BROKER",</a:t>
            </a:r>
          </a:p>
          <a:p xmlns:a="http://schemas.openxmlformats.org/drawingml/2006/main">
            <a:r>
              <a:t>          "LEGAL",</a:t>
            </a:r>
          </a:p>
          <a:p xmlns:a="http://schemas.openxmlformats.org/drawingml/2006/main">
            <a:r>
              <a:t>          "TAX"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"/cases/{case_id}/requests",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"selectQuote",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"요청·견적"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"구매자가 최종 담당자 선택",</a:t>
            </a:r>
          </a:p>
          <a:p xmlns:a="http://schemas.openxmlformats.org/drawingml/2006/main">
            <a:r>
              <a:t>  "description": "소유 구매자만. 분야별 현재 담당자 1명. 팀 선택·업무·업무 체크리스트·요청/견적 상태·활동을 단일 트랜잭션으로 반영. 교체 시 기존 업무는 REPLACED, 기존 견적 OFFERED, 기존 요청 QUOTED, 기존 문서 권한 false. 현재 체크 완료 수가 1 이상이면 담당자 교체 409 WORK_STARTED. 같은 견적 재선택은 기존 결과 반환. 프로젝트 행 잠금으로 동시 선택 직렬화.",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"#/components/schemas/SelectionResult"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"quote_id",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"quote_id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"/quotes/{quote_id}/selection",</a:t>
            </a:r>
          </a:p>
          <a:p xmlns:a="http://schemas.openxmlformats.org/drawingml/2006/main">
            <a:r>
              <a:t>  "method": "POST"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B04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"getCaseDashboard",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"팀·진행률·단계·활동 요약",</a:t>
            </a:r>
          </a:p>
          <a:p xmlns:a="http://schemas.openxmlformats.org/drawingml/2006/main">
            <a:r>
              <a:t>  "description": "전체 19개 정의가 분모. 현재 선택된 Task 완료 수만 분자. percent=round(완료수/19*100). 미선택도 분모에 포함. 단계 상태는 서버 계산.",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"#/components/schemas/Dashboard"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"/cases/{case_id}/dashboard",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"listEvents",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"업무"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"최근 활동 기록",</a:t>
            </a:r>
          </a:p>
          <a:p xmlns:a="http://schemas.openxmlformats.org/drawingml/2006/main">
            <a:r>
              <a:t>  "description": "소유 구매자 및 현재 담당 전문가만. created_at,id 내림차순.",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"#/components/schemas/EventPage"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"/cases/{case_id}/events",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B04 팀 영역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"getCaseDashboard",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"팀·진행률·단계·활동 요약",</a:t>
            </a:r>
          </a:p>
          <a:p xmlns:a="http://schemas.openxmlformats.org/drawingml/2006/main">
            <a:r>
              <a:t>  "description": "전체 19개 정의가 분모. 현재 선택된 Task 완료 수만 분자. percent=round(완료수/19*100). 미선택도 분모에 포함. 단계 상태는 서버 계산.",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"#/components/schemas/Dashboard"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"/cases/{case_id}/dashboard",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B04 단계 영역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"getCaseDashboard",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"팀·진행률·단계·활동 요약",</a:t>
            </a:r>
          </a:p>
          <a:p xmlns:a="http://schemas.openxmlformats.org/drawingml/2006/main">
            <a:r>
              <a:t>  "description": "전체 19개 정의가 분모. 현재 선택된 Task 완료 수만 분자. percent=round(완료수/19*100). 미선택도 분모에 포함. 단계 상태는 서버 계산.",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"#/components/schemas/Dashboard"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"/cases/{case_id}/dashboard",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B06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"getWorkspace",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"업무"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"고객 조건·업무·허용 문서",</a:t>
            </a:r>
          </a:p>
          <a:p xmlns:a="http://schemas.openxmlformats.org/drawingml/2006/main">
            <a:r>
              <a:t>  "description": "프로젝트 구매자 또는 해당 전문가만 조회. documents_allowed=false이면 documents는 빈 배열. phase_order와 lock_reason을 함께 반환.",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"#/components/schemas/Workspace"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"engagement_id",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"engagement_id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"/engagements/{engagement_id}/workspace",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E01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"getExpertDashboard",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"전문가"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"현재 전문가 대시보드",</a:t>
            </a:r>
          </a:p>
          <a:p xmlns:a="http://schemas.openxmlformats.org/drawingml/2006/main">
            <a:r>
              <a:t>  "description": "현재 전문가 대시보드",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"#/components/schemas/ExpertDashboard"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"/expert/dashboard",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"listExpertEngagements",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"전문가"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"내가 담당하는 업무",</a:t>
            </a:r>
          </a:p>
          <a:p xmlns:a="http://schemas.openxmlformats.org/drawingml/2006/main">
            <a:r>
              <a:t>  "description": "내가 담당하는 업무",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"#/components/schemas/EngagementPage"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"/expert/engagements",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E02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"listExpertRequests",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"전문가"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"나에게 온 요청",</a:t>
            </a:r>
          </a:p>
          <a:p xmlns:a="http://schemas.openxmlformats.org/drawingml/2006/main">
            <a:r>
              <a:t>  "description": "나에게 온 요청",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"#/components/schemas/RequestPage"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"status",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"enum": [</a:t>
            </a:r>
          </a:p>
          <a:p xmlns:a="http://schemas.openxmlformats.org/drawingml/2006/main">
            <a:r>
              <a:t>          "REQUESTED",</a:t>
            </a:r>
          </a:p>
          <a:p xmlns:a="http://schemas.openxmlformats.org/drawingml/2006/main">
            <a:r>
              <a:t>          "QUOTED",</a:t>
            </a:r>
          </a:p>
          <a:p xmlns:a="http://schemas.openxmlformats.org/drawingml/2006/main">
            <a:r>
              <a:t>          "SELECTED"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"/expert/requests",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"getRequest",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"요청·견적"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"요청·견적 상세 조회",</a:t>
            </a:r>
          </a:p>
          <a:p xmlns:a="http://schemas.openxmlformats.org/drawingml/2006/main">
            <a:r>
              <a:t>  "description": "요청·견적 상세 조회",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"#/components/schemas/RequestView"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"request_id",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"request_id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"/requests/{request_id}",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E04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"getWorkspace",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"업무"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"고객 조건·업무·허용 문서",</a:t>
            </a:r>
          </a:p>
          <a:p xmlns:a="http://schemas.openxmlformats.org/drawingml/2006/main">
            <a:r>
              <a:t>  "description": "프로젝트 구매자 또는 해당 전문가만 조회. documents_allowed=false이면 documents는 빈 배열. phase_order와 lock_reason을 함께 반환.",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"#/components/schemas/Workspace"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"engagement_id",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"engagement_id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"/engagements/{engagement_id}/workspace",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"updateTask",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"업무"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"담당 전문가가 완료 상태 변경",</a:t>
            </a:r>
          </a:p>
          <a:p xmlns:a="http://schemas.openxmlformats.org/drawingml/2006/main">
            <a:r>
              <a:t>  "description": "현재 선택된 담당 전문가만 가능. 세 분야 미선택이면 409 TEAM_INCOMPLETE. 체크 시 모든 앞 단계 완료 필요(409 PHASE_LOCKED). 체크 해제 시 뒤 단계에 완료 항목이 있으면 409 DOWNSTREAM_COMPLETED. 같은 단계 내 순서 자유. 완료자·시간은 서버 기록; 해제 시 null. 프로젝트 행 잠금 하에 확인·갱신·진행률 계산을 원자 수행. 동일 값 재요청은 성공·중복 활동 생성 안 함.",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"#/components/schemas/Dashboard"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"task_id",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"task_id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"completed": {</a:t>
            </a:r>
          </a:p>
          <a:p xmlns:a="http://schemas.openxmlformats.org/drawingml/2006/main">
            <a:r>
              <a:t>              "type": "boolean"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"completed"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"/tasks/{task_id}",</a:t>
            </a:r>
          </a:p>
          <a:p xmlns:a="http://schemas.openxmlformats.org/drawingml/2006/main">
            <a:r>
              <a:t>  "method": "PATCH"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B07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"updateCase",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"구매 조건 수정",</a:t>
            </a:r>
          </a:p>
          <a:p xmlns:a="http://schemas.openxmlformats.org/drawingml/2006/main">
            <a:r>
              <a:t>  "description": "소유 구매자만 수정. 최신 조건은 연결된 전문가의 고객 업무 화면에 반영. 변경 활동 기록 생성.",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"#/components/schemas/PurchaseCase"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"$ref": "#/components/schemas/CaseUpdate"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"/cases/{case_id}",</a:t>
            </a:r>
          </a:p>
          <a:p xmlns:a="http://schemas.openxmlformats.org/drawingml/2006/main">
            <a:r>
              <a:t>  "method": "PATCH"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B08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"createDocument",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"문서"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"문서 메타데이터 등록",</a:t>
            </a:r>
          </a:p>
          <a:p xmlns:a="http://schemas.openxmlformats.org/drawingml/2006/main">
            <a:r>
              <a:t>  "description": "구매자만. 파일명·크기·MIME만 JSON 등록; multipart 업로드와 파일 다운로드는 미제공.",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"201": {</a:t>
            </a:r>
          </a:p>
          <a:p xmlns:a="http://schemas.openxmlformats.org/drawingml/2006/main">
            <a:r>
              <a:t>      "description": "생성 완료",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"#/components/schemas/Document"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"$ref": "#/components/schemas/DocumentInput"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"/cases/{case_id}/documents",</a:t>
            </a:r>
          </a:p>
          <a:p xmlns:a="http://schemas.openxmlformats.org/drawingml/2006/main">
            <a:r>
              <a:t>  "method": "POST"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"putDocumentGrant",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"문서"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"문서 목록 공유·철회",</a:t>
            </a:r>
          </a:p>
          <a:p xmlns:a="http://schemas.openxmlformats.org/drawingml/2006/main">
            <a:r>
              <a:t>  "description": "소유 구매자만. 해당 프로젝트 요청 이력이 있는 전문가에게 부여. 프로젝트 문서 전체 목록에 적용. upsert; false 즉시 철회. 미생성 권한은 false.",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"#/components/schemas/DocumentGrant"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"expert_id",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"expert_id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"allowed": {</a:t>
            </a:r>
          </a:p>
          <a:p xmlns:a="http://schemas.openxmlformats.org/drawingml/2006/main">
            <a:r>
              <a:t>              "type": "boolean"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"allowed"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"/cases/{case_id}/document-grants/{expert_id}",</a:t>
            </a:r>
          </a:p>
          <a:p xmlns:a="http://schemas.openxmlformats.org/drawingml/2006/main">
            <a:r>
              <a:t>  "method": "PUT"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M01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"listConversations",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"메시지"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"접근 가능한 통합 대화 목록",</a:t>
            </a:r>
          </a:p>
          <a:p xmlns:a="http://schemas.openxmlformats.org/drawingml/2006/main">
            <a:r>
              <a:t>  "description": "구매자는 본인 요청의 모든 대화, 전문가는 본인 요청의 대화만 조회. 후보에게 요청한 즉시 생성; 최종 선택 전도 대화 가능.",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"#/components/schemas/ConversationPage"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"프로젝트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"/conversations",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"listUnifiedMessages",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"메시지"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"통합 메시지 시간순 조회",</a:t>
            </a:r>
          </a:p>
          <a:p xmlns:a="http://schemas.openxmlformats.org/drawingml/2006/main">
            <a:r>
              <a:t>  "description": "접근 가능한 대화의 메시지를 created_at,id 오름차순으로 조회. cursor는 두 값 기반. 전문가가 다른 후보의 대화를 조회할 수 없음.",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"#/components/schemas/MessagePage"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"프로젝트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"/messages",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M02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"listMessages",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"메시지"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"1:1 대화 내역",</a:t>
            </a:r>
          </a:p>
          <a:p xmlns:a="http://schemas.openxmlformats.org/drawingml/2006/main">
            <a:r>
              <a:t>  "description": "1:1 대화 내역",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"#/components/schemas/MessagePage"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"conversation_id",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"conversation_id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"/conversations/{conversation_id}/messages",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"sendMessage",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"메시지"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"메시지 전송",</a:t>
            </a:r>
          </a:p>
          <a:p xmlns:a="http://schemas.openxmlformats.org/drawingml/2006/main">
            <a:r>
              <a:t>  "description": "참여자만 전송. sender_id는 인증 사용자에서 결정. 공백만 있으면 400 EMPTY_MESSAGE. 동일 client_message_id와 같은 본문 재전송 시 기존 메시지 반환, 다른 본문은 409 MESSAGE_KEY_CONFLICT. 모든 사용자 입력은 텍스트로 렌더링.",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"201": {</a:t>
            </a:r>
          </a:p>
          <a:p xmlns:a="http://schemas.openxmlformats.org/drawingml/2006/main">
            <a:r>
              <a:t>      "description": "생성 완료",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"#/components/schemas/MessageView"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"conversation_id",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"conversation_id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"body":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"minLength": 1,</a:t>
            </a:r>
          </a:p>
          <a:p xmlns:a="http://schemas.openxmlformats.org/drawingml/2006/main">
            <a:r>
              <a:t>              "maxLength": 1000</a:t>
            </a:r>
          </a:p>
          <a:p xmlns:a="http://schemas.openxmlformats.org/drawingml/2006/main">
            <a:r>
              <a:t>            },</a:t>
            </a:r>
          </a:p>
          <a:p xmlns:a="http://schemas.openxmlformats.org/drawingml/2006/main">
            <a:r>
              <a:t>            "client_message_id":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"format": "uuid"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"body",</a:t>
            </a:r>
          </a:p>
          <a:p xmlns:a="http://schemas.openxmlformats.org/drawingml/2006/main">
            <a:r>
              <a:t>            "client_message_id"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"/conversations/{conversation_id}/messages",</a:t>
            </a:r>
          </a:p>
          <a:p xmlns:a="http://schemas.openxmlformats.org/drawingml/2006/main">
            <a:r>
              <a:t>  "method": "POST"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E05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"updateExpertProfile",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"전문가"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"내 사무소명·소개 수정",</a:t>
            </a:r>
          </a:p>
          <a:p xmlns:a="http://schemas.openxmlformats.org/drawingml/2006/main">
            <a:r>
              <a:t>  "description": "내 사무소명·소개 수정",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"#/components/schemas/ExpertProfile"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"office_name":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"minLength": 1,</a:t>
            </a:r>
          </a:p>
          <a:p xmlns:a="http://schemas.openxmlformats.org/drawingml/2006/main">
            <a:r>
              <a:t>              "maxLength": 100</a:t>
            </a:r>
          </a:p>
          <a:p xmlns:a="http://schemas.openxmlformats.org/drawingml/2006/main">
            <a:r>
              <a:t>            },</a:t>
            </a:r>
          </a:p>
          <a:p xmlns:a="http://schemas.openxmlformats.org/drawingml/2006/main">
            <a:r>
              <a:t>            "bio":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"minLength": 1,</a:t>
            </a:r>
          </a:p>
          <a:p xmlns:a="http://schemas.openxmlformats.org/drawingml/2006/main">
            <a:r>
              <a:t>              "maxLength": 400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"office_name",</a:t>
            </a:r>
          </a:p>
          <a:p xmlns:a="http://schemas.openxmlformats.org/drawingml/2006/main">
            <a:r>
              <a:t>            "bio"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"/expert/profile",</a:t>
            </a:r>
          </a:p>
          <a:p xmlns:a="http://schemas.openxmlformats.org/drawingml/2006/main">
            <a:r>
              <a:t>  "method": "PATCH"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ac092a9e14f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355c4bcbfc40d6" /><Relationship Type="http://schemas.openxmlformats.org/officeDocument/2006/relationships/slideLayout" Target="/ppt/slideLayouts/slideLayout1.xml" Id="Rec0ae008d12d49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0ae008d12d49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21822bf4a4438" /><Relationship Type="http://schemas.openxmlformats.org/officeDocument/2006/relationships/notesSlide" Target="/ppt/notesSlides/notesSlide1.xml" Id="R94fd6c38d4a94c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ca5bd404f4232" /><Relationship Type="http://schemas.openxmlformats.org/officeDocument/2006/relationships/notesSlide" Target="/ppt/notesSlides/notesSlide2.xml" Id="R7a56073d7cf949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fbfe44f084a82" /><Relationship Type="http://schemas.openxmlformats.org/officeDocument/2006/relationships/notesSlide" Target="/ppt/notesSlides/notesSlide3.xml" Id="R4a0a39ad1edf4e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6a72eb5de458a" /><Relationship Type="http://schemas.openxmlformats.org/officeDocument/2006/relationships/notesSlide" Target="/ppt/notesSlides/notesSlide4.xml" Id="R1a7f32955e524a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1c0ae59c840e9" /><Relationship Type="http://schemas.openxmlformats.org/officeDocument/2006/relationships/notesSlide" Target="/ppt/notesSlides/notesSlide5.xml" Id="R9b3728dcd99b4b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1b273acf1417d" /><Relationship Type="http://schemas.openxmlformats.org/officeDocument/2006/relationships/notesSlide" Target="/ppt/notesSlides/notesSlide6.xml" Id="Rc00260ff796b4d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98835f90a4a17" /><Relationship Type="http://schemas.openxmlformats.org/officeDocument/2006/relationships/notesSlide" Target="/ppt/notesSlides/notesSlide7.xml" Id="R0192fdd62eff45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b0d93864a46c5" /><Relationship Type="http://schemas.openxmlformats.org/officeDocument/2006/relationships/image" Target="/ppt/media/image.png" Id="Rbc8ffcda1a0c4ac8" /><Relationship Type="http://schemas.openxmlformats.org/officeDocument/2006/relationships/notesSlide" Target="/ppt/notesSlides/notesSlide8.xml" Id="R62d3452016b941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b9f8cc8e44fc4" /><Relationship Type="http://schemas.openxmlformats.org/officeDocument/2006/relationships/image" Target="/ppt/media/image2.png" Id="R28e09e9360424a2d" /><Relationship Type="http://schemas.openxmlformats.org/officeDocument/2006/relationships/notesSlide" Target="/ppt/notesSlides/notesSlide9.xml" Id="R522267d5c5ee48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d355467b747f1" /><Relationship Type="http://schemas.openxmlformats.org/officeDocument/2006/relationships/image" Target="/ppt/media/image3.png" Id="R996e1159392941b5" /><Relationship Type="http://schemas.openxmlformats.org/officeDocument/2006/relationships/notesSlide" Target="/ppt/notesSlides/notesSlide10.xml" Id="Rd0bca2ba068549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d4363c55545e7" /><Relationship Type="http://schemas.openxmlformats.org/officeDocument/2006/relationships/image" Target="/ppt/media/image4.png" Id="Rbc49ea5142204fa6" /><Relationship Type="http://schemas.openxmlformats.org/officeDocument/2006/relationships/notesSlide" Target="/ppt/notesSlides/notesSlide11.xml" Id="Rcf48b5dcf55843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eb45f6d7b4743" /><Relationship Type="http://schemas.openxmlformats.org/officeDocument/2006/relationships/image" Target="/ppt/media/image5.png" Id="Rd997eb1b1b5b4786" /><Relationship Type="http://schemas.openxmlformats.org/officeDocument/2006/relationships/notesSlide" Target="/ppt/notesSlides/notesSlide12.xml" Id="Re1c24d667d0b41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6e39abf3d4245" /><Relationship Type="http://schemas.openxmlformats.org/officeDocument/2006/relationships/image" Target="/ppt/media/image6.png" Id="Rd1c15833ce664d99" /><Relationship Type="http://schemas.openxmlformats.org/officeDocument/2006/relationships/notesSlide" Target="/ppt/notesSlides/notesSlide13.xml" Id="Ra4c3484fbd1645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6990bc26c4ebf" /><Relationship Type="http://schemas.openxmlformats.org/officeDocument/2006/relationships/image" Target="/ppt/media/image7.png" Id="R33ccb54a14c6467b" /><Relationship Type="http://schemas.openxmlformats.org/officeDocument/2006/relationships/notesSlide" Target="/ppt/notesSlides/notesSlide14.xml" Id="R846e253448ea4d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0160ffe9e47dd" /><Relationship Type="http://schemas.openxmlformats.org/officeDocument/2006/relationships/image" Target="/ppt/media/image8.png" Id="R889d573c76d94f31" /><Relationship Type="http://schemas.openxmlformats.org/officeDocument/2006/relationships/notesSlide" Target="/ppt/notesSlides/notesSlide15.xml" Id="R1e780544d20f49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06c4bcd784987" /><Relationship Type="http://schemas.openxmlformats.org/officeDocument/2006/relationships/image" Target="/ppt/media/image9.png" Id="R8e7f86a3ae9d4d12" /><Relationship Type="http://schemas.openxmlformats.org/officeDocument/2006/relationships/notesSlide" Target="/ppt/notesSlides/notesSlide16.xml" Id="R3d60582f8cbc450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8763bf07b42ce" /><Relationship Type="http://schemas.openxmlformats.org/officeDocument/2006/relationships/image" Target="/ppt/media/image10.png" Id="R78465db0d44b46ff" /><Relationship Type="http://schemas.openxmlformats.org/officeDocument/2006/relationships/notesSlide" Target="/ppt/notesSlides/notesSlide17.xml" Id="R279453c6762b4f1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ceca3016547a3" /><Relationship Type="http://schemas.openxmlformats.org/officeDocument/2006/relationships/image" Target="/ppt/media/image11.png" Id="R8bd9e10061d1495b" /><Relationship Type="http://schemas.openxmlformats.org/officeDocument/2006/relationships/notesSlide" Target="/ppt/notesSlides/notesSlide18.xml" Id="R3a1a7a95d08749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ef1f94ffd4434" /><Relationship Type="http://schemas.openxmlformats.org/officeDocument/2006/relationships/image" Target="/ppt/media/image12.png" Id="R9e08143a00e64cdf" /><Relationship Type="http://schemas.openxmlformats.org/officeDocument/2006/relationships/notesSlide" Target="/ppt/notesSlides/notesSlide19.xml" Id="R0c2885952ec64b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a4e26f2514a8d" /><Relationship Type="http://schemas.openxmlformats.org/officeDocument/2006/relationships/image" Target="/ppt/media/image13.png" Id="R7891f2e19ab341c4" /><Relationship Type="http://schemas.openxmlformats.org/officeDocument/2006/relationships/notesSlide" Target="/ppt/notesSlides/notesSlide20.xml" Id="Ra7be33f7134f48f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3aa3ae51b4f89" /><Relationship Type="http://schemas.openxmlformats.org/officeDocument/2006/relationships/image" Target="/ppt/media/image14.png" Id="R24565828a39a4718" /><Relationship Type="http://schemas.openxmlformats.org/officeDocument/2006/relationships/notesSlide" Target="/ppt/notesSlides/notesSlide21.xml" Id="R8c4c65aae5a4441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4e15fa2f74cba" /><Relationship Type="http://schemas.openxmlformats.org/officeDocument/2006/relationships/image" Target="/ppt/media/image15.png" Id="Rf59939c3e3134299" /><Relationship Type="http://schemas.openxmlformats.org/officeDocument/2006/relationships/notesSlide" Target="/ppt/notesSlides/notesSlide22.xml" Id="Rb622042233f940a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482e4300d4416" /><Relationship Type="http://schemas.openxmlformats.org/officeDocument/2006/relationships/image" Target="/ppt/media/image16.png" Id="Rdc233e862e8247e1" /><Relationship Type="http://schemas.openxmlformats.org/officeDocument/2006/relationships/notesSlide" Target="/ppt/notesSlides/notesSlide23.xml" Id="R2023a66de4454cd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03a4ae9b74f18" /><Relationship Type="http://schemas.openxmlformats.org/officeDocument/2006/relationships/image" Target="/ppt/media/image17.png" Id="Raacf087c654a47c5" /><Relationship Type="http://schemas.openxmlformats.org/officeDocument/2006/relationships/notesSlide" Target="/ppt/notesSlides/notesSlide24.xml" Id="R633b35cdd3e446e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00e84b4054b75" /><Relationship Type="http://schemas.openxmlformats.org/officeDocument/2006/relationships/image" Target="/ppt/media/image18.png" Id="R6881952d6974406c" /><Relationship Type="http://schemas.openxmlformats.org/officeDocument/2006/relationships/notesSlide" Target="/ppt/notesSlides/notesSlide25.xml" Id="Ra67d27007fcd4f4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0e5fdb5724398" /><Relationship Type="http://schemas.openxmlformats.org/officeDocument/2006/relationships/image" Target="/ppt/media/image19.png" Id="R19a1799cf32f43dd" /><Relationship Type="http://schemas.openxmlformats.org/officeDocument/2006/relationships/notesSlide" Target="/ppt/notesSlides/notesSlide26.xml" Id="Rb7187efb49794a6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76de66daa4817" /><Relationship Type="http://schemas.openxmlformats.org/officeDocument/2006/relationships/image" Target="/ppt/media/image20.png" Id="R102c825252574119" /><Relationship Type="http://schemas.openxmlformats.org/officeDocument/2006/relationships/notesSlide" Target="/ppt/notesSlides/notesSlide27.xml" Id="R58a745451c55477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accbd758e4515" /><Relationship Type="http://schemas.openxmlformats.org/officeDocument/2006/relationships/image" Target="/ppt/media/image21.png" Id="R2662f8f5f0db417c" /><Relationship Type="http://schemas.openxmlformats.org/officeDocument/2006/relationships/image" Target="/ppt/media/image22.png" Id="Rd0a936afe4e54e92" /><Relationship Type="http://schemas.openxmlformats.org/officeDocument/2006/relationships/notesSlide" Target="/ppt/notesSlides/notesSlide28.xml" Id="R196b6c849e78424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da9b5f1d54e92" /><Relationship Type="http://schemas.openxmlformats.org/officeDocument/2006/relationships/notesSlide" Target="/ppt/notesSlides/notesSlide29.xml" Id="R77e52e54b94345f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1872b6a8f4b3e" /><Relationship Type="http://schemas.openxmlformats.org/officeDocument/2006/relationships/notesSlide" Target="/ppt/notesSlides/notesSlide30.xml" Id="Reba39d2452ba47d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d301e6e8844b1" /><Relationship Type="http://schemas.openxmlformats.org/officeDocument/2006/relationships/notesSlide" Target="/ppt/notesSlides/notesSlide31.xml" Id="Rcfdba64559384e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F4174-5DD7-40FE-8536-88520B0E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11EA8-D5E9-4A34-8236-09585058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집이음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DC645-3428-497F-B64E-BE471D1A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아파트 구매 전문가 연결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B850A-177B-4ACF-A742-9E759ED3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E5533-5841-4D2D-B7C8-9F444C08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801E9-0A46-45EB-9C20-B121B985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1219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전문가 3명 선택 후</a:t>
            </a:r>
          </a:p>
          <a:p xmlns:a="http://schemas.openxmlformats.org/drawingml/2006/main">
            <a:pPr>
              <a:defRPr sz="46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6단계·19개 업무 진행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B3D14-C018-45D5-978F-05BB13E4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1143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서비스 개요와 사용자 정의</a:t>
            </a:r>
          </a:p>
          <a:p xmlns:a="http://schemas.openxmlformats.org/drawingml/2006/main">
            <a:pPr>
              <a:defRPr sz="240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UI 화면 캡처 및 API 연결 설계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7236B-C707-4090-A199-70732152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723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판교6반  장민서</a:t>
            </a:r>
          </a:p>
        </p:txBody>
      </p:sp>
    </p:spTree>
    <p:extLst>
      <p:ext uri="{BB962C8B-B14F-4D97-AF65-F5344CB8AC3E}">
        <p14:creationId xmlns:p14="http://schemas.microsoft.com/office/powerpoint/2010/main" val="16083617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69018-6280-4BCA-941D-3F867C1E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112AE-CFD2-4115-9A88-49165BC7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서비스 개요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527CD-574A-4F0F-8E77-E9A6C6AD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E7363-BC12-4B60-8D2D-6E534D9E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29169-E1AC-41E2-A95D-A9B3B7B1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095500"/>
          <a:ext xmlns:a="http://schemas.openxmlformats.org/drawingml/2006/main" cx="123825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0191750"/>
              </a:tblGrid>
              <a:tr h="88446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항목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설계 내용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88446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목적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아파트 구매자가 필요한 전문가를 찾고 구매 진행 상황을 한곳에서 확인한다.</a:t>
                      </a:r>
                    </a:p>
                  </a:txBody>
                  <a:tcPr marL="152400" marR="152400" marT="114300" marB="95250"/>
                </a:tc>
              </a:tr>
              <a:tr h="88446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핵심 사용자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첫 주택 구매자, 기존 주택을 보유한 갈아타기 구매자, 공동명의 검토 구매자</a:t>
                      </a:r>
                    </a:p>
                  </a:txBody>
                  <a:tcPr marL="152400" marR="152400" marT="114300" marB="95250"/>
                </a:tc>
              </a:tr>
              <a:tr h="88446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서비스 시작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조건 등록 후 공인중개사·세무사·법무사를 각각 한 명씩 선택한다.</a:t>
                      </a:r>
                    </a:p>
                  </a:txBody>
                  <a:tcPr marL="152400" marR="152400" marT="114300" marB="95250"/>
                </a:tc>
              </a:tr>
              <a:tr h="88446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진행 방식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6단계에 속한 19개 업무를 담당 전문가가 확인한다. 구매자는 현재 단계와 다음 할 일을 확인한다.</a:t>
                      </a:r>
                    </a:p>
                  </a:txBody>
                  <a:tcPr marL="152400" marR="152400" marT="114300" marB="95250"/>
                </a:tc>
              </a:tr>
              <a:tr h="88446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제공 범위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후보 비교, 요청·견적, 전문가 선택, 단계별 진행 확인, 문서 정보 공유, 1:1 메시지</a:t>
                      </a:r>
                    </a:p>
                  </a:txBody>
                  <a:tcPr marL="152400" marR="152400" marT="114300" marB="95250"/>
                </a:tc>
              </a:tr>
              <a:tr h="88446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제외 범위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세액 자동 판정, 실제 송금, 세금 납부, 신고 제출, 등기 접수 실행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706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6C15D-3251-4756-AC18-94200CDE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07B46-FD47-4A64-82DC-60373ABB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처음 소개: 6단계와 19개 업무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2893C-7395-44EA-BD94-EC848BE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전문가 3명 선택 완료 후 시작 · 세부 업무 전체 목록은 이 소개에서만 제시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B6049-AAE8-422A-979E-C399EBC5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41749-E0E2-4802-B02D-7F681E5A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2382500" cy="647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8667750"/>
              </a:tblGrid>
              <a:tr h="92528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단계 / 담당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업무 목록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9252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① 매물·권리관계 검토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공인중개사 · 3개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매물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권리관계 설명 / 가격·특약 협의</a:t>
                      </a:r>
                    </a:p>
                  </a:txBody>
                  <a:tcPr marL="152400" marR="152400" marT="114300" marB="95250"/>
                </a:tc>
              </a:tr>
              <a:tr h="9252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② 계약 전 세무 상담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세무사 · 4개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취득세 중과 가능성 확인 / 주택 수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공동명의 검토 / 증여세 관련 자금 확인</a:t>
                      </a:r>
                    </a:p>
                  </a:txBody>
                  <a:tcPr marL="152400" marR="152400" marT="114300" marB="95250"/>
                </a:tc>
              </a:tr>
              <a:tr h="9252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③ 매매계약·실거래 신고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공인중개사 · 3개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매매계약 체결 확인 / 계약금 지급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실거래 신고 확인</a:t>
                      </a:r>
                    </a:p>
                  </a:txBody>
                  <a:tcPr marL="152400" marR="152400" marT="114300" marB="95250"/>
                </a:tc>
              </a:tr>
              <a:tr h="9252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④ 법무사 사전 준비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 · 4개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소유권이전등기 서류 확인 / 취득세 예상 내역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국민주택채권 내역 확인 / 등기 관련 비용 확인</a:t>
                      </a:r>
                    </a:p>
                  </a:txBody>
                  <a:tcPr marL="152400" marR="152400" marT="114300" marB="95250"/>
                </a:tc>
              </a:tr>
              <a:tr h="9252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⑤ 잔금일 이행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 확인 기록 · 3개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잔금 지급 확인 / 매도인 서류 인도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열쇠·주택 인도 확인</a:t>
                      </a:r>
                    </a:p>
                  </a:txBody>
                  <a:tcPr marL="152400" marR="152400" marT="114300" marB="95250"/>
                </a:tc>
              </a:tr>
              <a:tr h="9252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⑥ 취득세·등기 신청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 · 2개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취득세 신고·납부 지원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소유권이전등기 신청 확인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3CDD7-9DE4-44AC-90AD-16F8B462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591550"/>
            <a:ext cx="1209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3 + 4 + 3 + 4 + 3 + 2 = 19개. 실제 거래 당사자의 이행과 전문가의 확인 기록을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820260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A43C8-EA9D-4E5E-9C89-11B413AA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CB3B9-5521-427C-B685-FC21DECE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페인포인트와 프로젝트 내 솔루션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EFF62-AABA-4908-8BDC-FA9F553C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955C4-2B15-43DB-BA77-A9DAE169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58878-381B-4E70-BB0C-33E6AAC7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238375"/>
          <a:ext xmlns:a="http://schemas.openxmlformats.org/drawingml/2006/main" cx="12382500" cy="533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52875"/>
                <a:gridCol w="4524375"/>
                <a:gridCol w="3905250"/>
              </a:tblGrid>
              <a:tr h="1333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사용자의 어려움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집이음 기능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기대되는 변화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절차와 다음 할 일을 알기 어렵다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6단계 현황과 다음 행동 안내</a:t>
                      </a:r>
                    </a:p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담당자·진행 가능 여부 표시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현재 단계와 남은 절차를 확인</a:t>
                      </a:r>
                    </a:p>
                  </a:txBody>
                  <a:tcPr marL="152400" marR="152400" marT="114300" marB="95250"/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전문가를 각각 찾고 비용·범위를 비교하기 어렵다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분야별 후보 비교</a:t>
                      </a:r>
                    </a:p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보수·부가세·범위가 포함된 견적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같은 항목으로 비교 후 직접 선택</a:t>
                      </a:r>
                    </a:p>
                  </a:txBody>
                  <a:tcPr marL="152400" marR="152400" marT="114300" marB="95250"/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같은 거래정보를 반복해서 설명한다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구매 조건을 한 번 입력</a:t>
                      </a:r>
                    </a:p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연결 전문가에게 최신 조건 공유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재입력 감소</a:t>
                      </a:r>
                    </a:p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문서 공유는 별도 권한으로 통제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62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E178E-E569-41E7-AEB4-98E1AC37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E72D6-945E-4E13-9BC5-E44E300A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액터와 이용 기능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319E3-BABF-459A-862C-F36895AC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6A6DB-387E-4FAC-8013-76946235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F7F8A-8C3C-4E8F-B073-3C72A8C1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095500"/>
          <a:ext xmlns:a="http://schemas.openxmlformats.org/drawingml/2006/main" cx="12382500" cy="633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9525000"/>
              </a:tblGrid>
              <a:tr h="1055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액터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이용 가능한 기능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1055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구매자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조건 등록·수정, 후보 비교, 상담 요청, 견적 선택·업무 시작 전 변경, 단계 현황 조회, 문서 정보 등록·삭제·공유 권한 설정, 메시지, 활동 조회</a:t>
                      </a:r>
                    </a:p>
                  </a:txBody>
                  <a:tcPr marL="152400" marR="152400" marT="114300" marB="95250"/>
                </a:tc>
              </a:tr>
              <a:tr h="1055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공인중개사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본인 요청 확인·견적 작성, 1·3단계 확인 기록, 공유 조건·허용 문서 조회, 구매자와 대화, 프로필 수정</a:t>
                      </a:r>
                    </a:p>
                  </a:txBody>
                  <a:tcPr marL="152400" marR="152400" marT="114300" marB="95250"/>
                </a:tc>
              </a:tr>
              <a:tr h="1055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세무사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본인 요청 확인·견적 작성, 2단계 확인 기록, 공유 조건·허용 문서 조회, 구매자와 대화, 프로필 수정</a:t>
                      </a:r>
                    </a:p>
                  </a:txBody>
                  <a:tcPr marL="152400" marR="152400" marT="114300" marB="95250"/>
                </a:tc>
              </a:tr>
              <a:tr h="1055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본인 요청 확인·견적 작성, 4·5·6단계 확인 기록, 공유 조건·허용 문서 조회, 구매자와 대화, 프로필 수정</a:t>
                      </a:r>
                    </a:p>
                  </a:txBody>
                  <a:tcPr marL="152400" marR="152400" marT="114300" marB="95250"/>
                </a:tc>
              </a:tr>
              <a:tr h="1055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관리자 / 외부 시스템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관리자: 비운영 데모 역할 전환·초기화</a:t>
                      </a:r>
                    </a:p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현재 외부 경계: 브라우저 저장소와 파일 선택기. 향후 서버·파일 저장소·자격 확인 연동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958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E64C2F-EF67-40D4-8656-904997B9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7F0D4-EAF5-4C08-8B2F-3BEAE124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전체 UI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EAAED-6C1C-497E-B333-5FDDE93D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6단계 구매 진행을 중심으로 연결 · 세부 업무 목록은 생략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E49F1-492B-4965-8E17-AE1FA287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06818-F21A-4ACA-A4B8-435F08E4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478CE-9D32-4049-9118-9B195DF5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3667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8E0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935FA-4C88-4AD8-9E75-D5114C0E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527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서비스 소개 V01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B8334-5858-4C2E-A0F8-4C56FDBC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A8F42-888A-4F28-98FE-AB8ECF6D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3667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8E0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EA39F-637E-4165-BDB5-50E471E7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527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조건 입력 B01~B03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DA5DA-7096-4475-86E5-F90E66E8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558CD-CB93-4ED3-BE1D-C986EF0B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28875"/>
            <a:ext cx="3667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8E0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D3CDD-3E14-488E-9DA4-7C70B1D5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527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 비교 V02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6897C-450B-4100-9643-28B8B7D0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3667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D8E0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5A159-01E7-4616-95D2-FCA0CCAB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672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6단계 현황 B04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1FA69-50CE-41B5-A4F3-DA814DEE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2912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EC517-C418-4974-9921-EB3754CA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43375"/>
            <a:ext cx="3667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D8E0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567A1-D4E3-44B2-ADF2-62075A90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672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3명 선택 B04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E8A3A-5A08-4876-8968-B6D87EE0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2912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2F9E3-FD0D-4664-9F8A-88C5B961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43375"/>
            <a:ext cx="3667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D8E0D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39B88-6531-4BFE-8B43-AA8813CA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4672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요청 B05 / 견적 E03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0794D-6001-4A7A-8951-99DC6739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219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후보 선택 후 요청, 전문가 견적 수신 후 분야별 한 명씩 최종 선택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79600-1874-484E-AAF4-F6440747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1219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구매자 보조 화면: 담당 단계 B06 / 조건 수정 B07 / 문서함 B08 / 메시지 M01·M02</a:t>
            </a:r>
          </a:p>
          <a:p xmlns:a="http://schemas.openxmlformats.org/drawingml/2006/main">
            <a:pPr>
              <a:defRPr sz="18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전문가: 대시보드 E01 / 요청 E02 / 견적 E03 / 업무 E04 / 프로필 E05</a:t>
            </a:r>
          </a:p>
          <a:p xmlns:a="http://schemas.openxmlformats.org/drawingml/2006/main">
            <a:pPr>
              <a:defRPr sz="18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관리자: 역할 전환 A01 / 초기화 A02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34607-7FE5-4E11-9588-8F6DAEA7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433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651388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EBB24-6D5A-47CF-895E-D051F60A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CAA37-2569-4593-9E85-00430A1D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 진행 흐름: 6단계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62598-5FF0-4FDC-AFFD-CAE1FE62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사전 조건: 공인중개사·세무사·법무사 선택 완료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E916A-32E0-47E4-8BD0-78A35B68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A9F3F-A1C7-43F7-9DCA-E14DEC52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2190750"/>
          <a:ext xmlns:a="http://schemas.openxmlformats.org/drawingml/2006/main" cx="123825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5334000"/>
                <a:gridCol w="5810250"/>
              </a:tblGrid>
              <a:tr h="74839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순서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구매 단계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담당 / 이동 조건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74839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매물·권리관계 검토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공인중개사</a:t>
                      </a:r>
                    </a:p>
                  </a:txBody>
                  <a:tcPr marL="152400" marR="152400" marT="114300" marB="95250"/>
                </a:tc>
              </a:tr>
              <a:tr h="74839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계약 전 세무 상담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세무사</a:t>
                      </a:r>
                    </a:p>
                  </a:txBody>
                  <a:tcPr marL="152400" marR="152400" marT="114300" marB="95250"/>
                </a:tc>
              </a:tr>
              <a:tr h="74839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매매계약·실거래 신고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공인중개사</a:t>
                      </a:r>
                    </a:p>
                  </a:txBody>
                  <a:tcPr marL="152400" marR="152400" marT="114300" marB="95250"/>
                </a:tc>
              </a:tr>
              <a:tr h="74839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 사전 준비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</a:t>
                      </a:r>
                    </a:p>
                  </a:txBody>
                  <a:tcPr marL="152400" marR="152400" marT="114300" marB="95250"/>
                </a:tc>
              </a:tr>
              <a:tr h="74839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잔금일 이행 확인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거래 당사자 이행, 법무사 확인 기록</a:t>
                      </a:r>
                    </a:p>
                  </a:txBody>
                  <a:tcPr marL="152400" marR="152400" marT="114300" marB="95250"/>
                </a:tc>
              </a:tr>
              <a:tr h="74839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취득세·등기 신청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법무사. 완료 기준은 등기 신청 확인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A00F2-80A9-4891-AAC6-A2AFD330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81925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앞 단계가 끝나야 다음 단계가 열립니다. 같은 단계 안에서는 확인 순서를 제한하지 않습니다.</a:t>
            </a:r>
          </a:p>
          <a:p xmlns:a="http://schemas.openxmlformats.org/drawingml/2006/main">
            <a:pPr>
              <a:def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뒤 단계에 완료 기록이 있으면 앞 단계의 완료 해제를 제한합니다.</a:t>
            </a:r>
          </a:p>
        </p:txBody>
      </p:sp>
    </p:spTree>
    <p:extLst>
      <p:ext uri="{BB962C8B-B14F-4D97-AF65-F5344CB8AC3E}">
        <p14:creationId xmlns:p14="http://schemas.microsoft.com/office/powerpoint/2010/main" val="7604482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761F9-5F34-46AA-A142-2A4A015F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60246-CE42-4577-82EB-D5AC039C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서비스 소개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3CD27-AD91-41E7-84AC-7A30FFC7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V01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B2D5F-94F8-4EA5-9C31-C190C3AB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1EC87-3436-4120-A59B-059A8220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ffcda1a0c4ac8"/>
          <a:stretch xmlns:a="http://schemas.openxmlformats.org/drawingml/2006/main"/>
        </p:blipFill>
        <p:spPr>
          <a:xfrm xmlns:a="http://schemas.openxmlformats.org/drawingml/2006/main">
            <a:off x="619125" y="2850750"/>
            <a:ext cx="7810500" cy="39663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9F66F-3C85-4484-A64E-15C615D5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구매 여정 시작: 조건 입력 B01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전문가 둘러보기: 후보 목록 V02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29F24-B7A3-48C9-88C6-F4940FA2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B6EB7-357F-4FAC-AC24-E74D8E2F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입력 없음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7029F-9ADA-46BC-8C78-3031490F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User: id, role, 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18359-103C-4A77-B46D-3B5EA863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0781A-0054-4C5B-A446-94BA1C94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cursor?, limit?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3BF99-ED7E-46C5-BD01-A137A94E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CasePage: items, next_cursor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688F5-2097-44FF-BCAC-469089D7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소개에서만 전체 업무 구성을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16267263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87D6B-96B1-40A6-9D23-DF0A0D29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1E8BA-2CF4-4771-B02A-9EABC326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 조건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B3909-9F85-4640-AF95-D117FBDD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B01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B83A7-EF4C-4663-A01D-B8069C9F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720D2-5C2A-483B-9799-919850E2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09e9360424a2d"/>
          <a:stretch xmlns:a="http://schemas.openxmlformats.org/drawingml/2006/main"/>
        </p:blipFill>
        <p:spPr>
          <a:xfrm xmlns:a="http://schemas.openxmlformats.org/drawingml/2006/main">
            <a:off x="1505920" y="2190750"/>
            <a:ext cx="6036910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7D37A-88C2-487B-9EAE-38CC6D44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다음 단계: 입력값 검사 후 B02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이 단계에서는 프로젝트를 생성하지 않음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A7C91-912E-4641-918B-68315DBA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PATCH /me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5BB7B-AFA8-4265-83BE-3DBBE6BF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name (string, 필수)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182AB-B8F2-47E7-B61E-F8458638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User: id, 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4F459-0E77-47F8-B853-43895FB9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name은 서버 저장 시 사용. 최종 확인 전에는 입력값을 로컬 상태로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16570548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B4C76-D564-4DAB-8E06-892545B9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EAAF2-5F57-45EB-888E-9E3380E5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자금·일정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61D78-CF4B-4CA7-990C-7F4DCBEF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B02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CA042-2F0F-4765-8034-AF87526E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F13A3-1788-4DCC-A61F-01EDE962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e1159392941b5"/>
          <a:stretch xmlns:a="http://schemas.openxmlformats.org/drawingml/2006/main"/>
        </p:blipFill>
        <p:spPr>
          <a:xfrm xmlns:a="http://schemas.openxmlformats.org/drawingml/2006/main">
            <a:off x="1501255" y="2190750"/>
            <a:ext cx="6046240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09C63-74A8-4841-B707-792DFBC8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이전: B01, 다음: B03 확인 화면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자금 구성·명의 계획은 선택, 잔금일은 생략 가능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A1AD6-BF4B-4B7F-9DB4-69180CDD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별도 API 호출 없음. funding, ownership, target_closing_date를 최종 생성 요청에 포함합니다.</a:t>
            </a:r>
          </a:p>
        </p:txBody>
      </p:sp>
    </p:spTree>
    <p:extLst>
      <p:ext uri="{BB962C8B-B14F-4D97-AF65-F5344CB8AC3E}">
        <p14:creationId xmlns:p14="http://schemas.microsoft.com/office/powerpoint/2010/main" val="15958302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B1E9D-44DF-42F0-92AE-215CF711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47C57-90A8-4489-A2C3-824D60E5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입력 확인과 프로젝트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6E870-09CB-4617-A4FA-34655B41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B03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8F48D-2180-4C37-AF8D-3912088D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C2018-47FE-4915-AAC8-A35C493A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9ea5142204fa6"/>
          <a:stretch xmlns:a="http://schemas.openxmlformats.org/drawingml/2006/main"/>
        </p:blipFill>
        <p:spPr>
          <a:xfrm xmlns:a="http://schemas.openxmlformats.org/drawingml/2006/main">
            <a:off x="1186561" y="2190750"/>
            <a:ext cx="6675627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76854-E22C-425C-B7BA-D2B2C7F7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프로젝트 만들기: 저장 후 B04로 이동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실패 시 입력값 유지, 오류 필드 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A5312-1D3F-4983-B1DD-E9335CA8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F96EE-098D-456C-84FD-3FFF31D9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CaseInput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title, region, budget_krw 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B4E19-5606-4038-A86B-23BAEF1E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201 응답: PurchaseCase: id, buyer_id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31EF0-C19C-46FD-B5B3-801C51EE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PATCH /me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4BE7C-AD02-4E09-9A61-386EBF3D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name (1~50자)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CDFC1-E3E3-4290-950C-A2E0EB85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User: 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D6ADC-8377-4739-B414-853A50B8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예산은 만원 입력을 원 단위로 변환. 두 저장 요청의 실패를 각각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12398146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C5F6E-D31A-4136-BD36-BB5E856D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ACD60-3F92-4479-A51D-2733D05F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 후보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6A1B6-02B9-4997-B312-385F1FD1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V02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D6977-7934-4876-A6BC-DA7937C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135D4-5A39-4B18-8552-2D74E455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7eb1b1b5b4786"/>
          <a:stretch xmlns:a="http://schemas.openxmlformats.org/drawingml/2006/main"/>
        </p:blipFill>
        <p:spPr>
          <a:xfrm xmlns:a="http://schemas.openxmlformats.org/drawingml/2006/main">
            <a:off x="619125" y="2337138"/>
            <a:ext cx="7810500" cy="49935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D727F-23E2-45C2-9B58-25DEAC74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분야 필터: 해당 후보 표시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상담·견적 요청: B05 모달 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4640F-F6FB-49E7-B2FB-73431627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/experts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B7ADA-CAFD-4C83-9931-7BC1DDE6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expert_type?, case_id?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92FE8-8773-41E2-AC6A-E53F5266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ExpertPage: items, next_cursor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0D5A5-BF3C-464A-B317-00E86353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/experts/{expert_id}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49E41-93AE-48F1-8727-296DBAE9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expert_id (UUID)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EB474-3E0D-4EBD-8C41-FDB20049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ExpertView: profile, name, tags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2B02A-46FB-466A-9D92-4300D032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필터는 BROKER / LEGAL / TAX. 후보 목록 조회만으로 담당자가 정해지지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26097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C43D7-696D-4911-9B34-98E66F97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8A757-08A7-4D5E-9A16-BD97B010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상담·견적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8ADA0-2948-4491-9A12-E09FEA07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B05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AD2BF-3DF2-41EB-BFC7-E5626130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AC441-B6B2-4EA0-93FF-6E97F8BE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15833ce664d99"/>
          <a:stretch xmlns:a="http://schemas.openxmlformats.org/drawingml/2006/main"/>
        </p:blipFill>
        <p:spPr>
          <a:xfrm xmlns:a="http://schemas.openxmlformats.org/drawingml/2006/main">
            <a:off x="811326" y="2190750"/>
            <a:ext cx="7426098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A4D31-36A0-4956-92F4-9381C90A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요청 보내기: 요청·대화 생성 후 견적 영역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취소: 저장 없이 닫기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C1C5C-6760-4599-A464-9C5D10BA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/cases/{case_id}/requests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AA2F9-DDFD-47A7-9D5F-7BF1139A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expert_id, note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B224C-6EE2-418F-8190-2837C45B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201 응답: RequestView: request, quote,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engagement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A4CED-CCFD-4AAC-8E0C-8DAFA7A8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/cases/{case_id}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B0923-B096-47F6-B12C-7307ECDB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8BF42-71BF-46EA-8909-7FCCAA58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PurchaseCase: 구매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8A0C0-35EC-41D6-8368-F8951702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400: 요청 내용 오류 / 409: 같은 전문가에게 중복 요청. 공유될 구매 조건을 사전에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6174401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210B3-6522-4666-A964-97BBEB99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F99F3-6CA5-4C9F-A0CE-EDE5BC31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 견적 작성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D3D76-E35C-4F1D-A205-8FBB1E66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E03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A0F14-2EEF-485D-AD07-829556BC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36F7C-B623-41EF-8D75-7EB5CB7E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cb54a14c6467b"/>
          <a:stretch xmlns:a="http://schemas.openxmlformats.org/drawingml/2006/main"/>
        </p:blipFill>
        <p:spPr>
          <a:xfrm xmlns:a="http://schemas.openxmlformats.org/drawingml/2006/main">
            <a:off x="1466570" y="2190750"/>
            <a:ext cx="6115610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8BDAA-1CBF-455B-B008-832DF63F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견적 보내기: 구매자 요청 목록에 반영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보수·부가세와 세금·공과금은 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3D40A-614E-4E68-BC37-A0BEB86F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/requests/{request_id}/quote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4A73E-F998-4486-AEE2-8E095458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request_id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fee_krw, vat_krw,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estimated_days,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7D002-9C46-4170-85E5-F5BEFCD7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201 응답: Quote: id, status,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D6033-8B54-4B58-B740-6B52C7BF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필수값 오류는 400, 이미 견적이 있거나 요청 상태가 바뀌면 409. 금액은 정수 원 단위입니다.</a:t>
            </a:r>
          </a:p>
        </p:txBody>
      </p:sp>
    </p:spTree>
    <p:extLst>
      <p:ext uri="{BB962C8B-B14F-4D97-AF65-F5344CB8AC3E}">
        <p14:creationId xmlns:p14="http://schemas.microsoft.com/office/powerpoint/2010/main" val="11826669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855D7-255D-487B-9363-25AB32D7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B799A-5C27-4F56-B8CB-77B561F9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견적 확인과 담당자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6458B-37FA-4599-844E-1833379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B04 견적 영역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8CCC8-EFE4-426F-B0F4-0DB79FE2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54692-0F56-4835-813E-DC7436A0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d573c76d94f31"/>
          <a:stretch xmlns:a="http://schemas.openxmlformats.org/drawingml/2006/main"/>
        </p:blipFill>
        <p:spPr>
          <a:xfrm xmlns:a="http://schemas.openxmlformats.org/drawingml/2006/main">
            <a:off x="619125" y="3060586"/>
            <a:ext cx="7810500" cy="354670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B7CD6-563F-4F26-83C4-BDB4D9AF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이 전문가 선택하기: 해당 분야의 담당자로 확정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업무 시작 전에는 같은 분야의 다른 견적으로 변경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D9F91-5BA6-4100-8718-D303BB6D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/cases/{case_id}/requests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1BCD7-AF94-4231-8745-ADB76825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expert_type?, cursor?, limit?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54F54-E3B4-45ED-A146-F5FF941E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RequestPage: 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D331A-3429-44C5-A336-8C37BB72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/quotes/{quote_id}/selection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0F248-497C-440C-8DED-44CB430E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quote_id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 없음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DFFBD-DBF1-401C-B139-59256651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SelectionResult: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selection, engagement,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C5487-5908-411B-B35A-F21D17CC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업무가 시작된 뒤 담당자 변경은 409. 견적 합계는 fee_krw + vat_krw입니다.</a:t>
            </a:r>
          </a:p>
        </p:txBody>
      </p:sp>
    </p:spTree>
    <p:extLst>
      <p:ext uri="{BB962C8B-B14F-4D97-AF65-F5344CB8AC3E}">
        <p14:creationId xmlns:p14="http://schemas.microsoft.com/office/powerpoint/2010/main" val="13832747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80FBF-0994-4D4E-8686-411E2498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E286F-220E-459A-98A6-5635033C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 프로젝트 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B928C-B936-4463-970C-564C44F2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B04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907C5-6231-4ACA-9971-6922C8A8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F35C3-9C37-4FCF-8B33-D35F21EE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f86a3ae9d4d12"/>
          <a:stretch xmlns:a="http://schemas.openxmlformats.org/drawingml/2006/main"/>
        </p:blipFill>
        <p:spPr>
          <a:xfrm xmlns:a="http://schemas.openxmlformats.org/drawingml/2006/main">
            <a:off x="864577" y="2190750"/>
            <a:ext cx="7319596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89B3D-4F90-4A3E-ABAD-C4531731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상단에서 전문가 선택 현황·진행률·완료 단계를 확인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바로가기는 같은 화면의 해당 영역으로 이동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4D0AB-A689-45D8-A8F7-0B2D495D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/cases/{case_id}/dashboard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7C82C-098D-4237-82F2-E69D8DA7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593BA-73FA-4443-9AD1-C5C8B380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Dashboard: team, team_ready,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overall_progress, phases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7BEE7-3255-434B-8801-4373CC90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/cases/{case_id}/events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15CEE-D8AF-441C-8203-B66B427D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cursor?, limit?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DD293-3052-4555-A729-54229B96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EventPage: items, next_cursor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BCE1E-2411-44DE-B2B2-499D00DE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스크롤 바로가기는 API 호출이 아닙니다. 현재 단계는 완료 여부로 계산합니다.</a:t>
            </a:r>
          </a:p>
        </p:txBody>
      </p:sp>
    </p:spTree>
    <p:extLst>
      <p:ext uri="{BB962C8B-B14F-4D97-AF65-F5344CB8AC3E}">
        <p14:creationId xmlns:p14="http://schemas.microsoft.com/office/powerpoint/2010/main" val="18497922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F7442-214C-43E1-985A-19269468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D9E3C-F60F-4023-97DA-4E9D525A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나의 필수 전문가 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7B8ED-C9D9-4662-8C25-5CEF1648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B04 팀 영역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6CA90-6D0D-4FD7-B122-7F6E4563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20F95-0499-4CA6-986D-56336201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65db0d44b46ff"/>
          <a:stretch xmlns:a="http://schemas.openxmlformats.org/drawingml/2006/main"/>
        </p:blipFill>
        <p:spPr>
          <a:xfrm xmlns:a="http://schemas.openxmlformats.org/drawingml/2006/main">
            <a:off x="619125" y="3254395"/>
            <a:ext cx="7810500" cy="31590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9C13F-7632-40F6-A0E8-4CADD6C4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분야별 한 명씩 선택한 결과를 표시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업무 확인: B06 / 미선택: 해당 분야 V02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F51A6-140D-465B-9780-2E6AA090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/cases/{case_id}/dashboard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CD87D-21EE-4689-8ECD-22FE560B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A9254-B0C3-4380-AA1B-CF8FD9BE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team[]: expert, expert_name,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engagement, progress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team_ready: boolean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5175D-5418-4714-94B7-51940A0A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세 분야 선택이 끝나야 업무를 시작합니다. 세무사 포함은 집이음 정책이며 법적 필수 선임을 의미하지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195938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2CBE8-DEB1-489D-AED8-DE3ED15F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1F924-2BB5-4F34-9205-706597C0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6단계 구매 진행 현황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CD114-4830-431E-BC92-40C63B8B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B04 단계 영역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85F92-0C9C-4FF8-B964-5A8E49E6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12873-5971-4D44-91F8-85EF851F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9e10061d1495b"/>
          <a:stretch xmlns:a="http://schemas.openxmlformats.org/drawingml/2006/main"/>
        </p:blipFill>
        <p:spPr>
          <a:xfrm xmlns:a="http://schemas.openxmlformats.org/drawingml/2006/main">
            <a:off x="2009134" y="2190750"/>
            <a:ext cx="5030482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99611-EB91-4A75-BD75-291911D0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6개 단계명·담당자·상태·진행률만 표시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담당자 대화: 해당 전문가의 M02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48DF2-ABF6-4ED7-A81E-3BF5FAE3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/cases/{case_id}/dashboard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9881E-4A23-4D7F-AA76-A6600848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CDA4A-E319-42FC-A5A1-2BEBF6D7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phases[]: phase_order, title,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owner_type, status,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A27E6-A20B-4C84-A4CF-3ECF454F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LOCKED: 대기 / OPEN: 진행 중 / COMPLETED: 완료. task_titles는 개요 화면에서 펼쳐 표시하지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1228328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6347E-E5CD-4F25-9F21-DDC2A12D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1946B-FB88-4E7D-8102-8E794A20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구매자의 담당 단계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F9762-61A9-4ECD-8297-BD6F9ACA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B06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A3FFF-2168-4789-9757-ED407B26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F8F54-BE8C-4FC4-A47C-C244A3FC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8143a00e64cdf"/>
          <a:stretch xmlns:a="http://schemas.openxmlformats.org/drawingml/2006/main"/>
        </p:blipFill>
        <p:spPr>
          <a:xfrm xmlns:a="http://schemas.openxmlformats.org/drawingml/2006/main">
            <a:off x="1315567" y="2190750"/>
            <a:ext cx="6417616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6E08D-96D0-42E3-AFD7-3BE5BFFD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기본 화면은 담당 단계만 요약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세부 업무 확인을 누르면 해당 단계 내용을 펼침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A8C35-CF02-4E3B-93E3-F7F5BD39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/engagements/{engagement_id}/workspace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AF13F-3795-4A5F-B65D-1EA1BD55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engagement_id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1EB7D-DF5D-43EC-A2FF-05A58550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Workspace: tasks,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purchase_case, engagement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82664-3A02-495F-8845-5379F11A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구매자는 읽기 전용입니다. 실제 확인 기록은 해당 전문가만 변경할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9494010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5A057-180C-4DBA-ACC2-606C0C70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61C11-0033-4000-AB83-F8DEBDD8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 업무 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E0E48-3ABF-4EB3-8E77-AFEB9965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E01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3CD08-300C-4035-8617-C63697F1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F0224-DCAF-484C-A004-D20520CB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1f2e19ab341c4"/>
          <a:stretch xmlns:a="http://schemas.openxmlformats.org/drawingml/2006/main"/>
        </p:blipFill>
        <p:spPr>
          <a:xfrm xmlns:a="http://schemas.openxmlformats.org/drawingml/2006/main">
            <a:off x="843223" y="2190750"/>
            <a:ext cx="7362303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4E1B5-E76C-4252-88A1-24DE5C64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새 요청 확인: E02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업무 관리: E04 / 프로필 설정: E05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88DFF-670D-4CDB-B9C3-8A512EC0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/expert/dashboard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93299-6319-4FD9-BF11-757B119A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입력 없음. 현재 전문가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415EB-1A18-4D90-9B65-301735F8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ExpertDashboard: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new_request_count, requests 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9FC19-432A-4797-9B7C-9498C395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/expert/engagements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18AA9-73FB-4E61-BC7E-E467E970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cursor?, limit?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1D384-9195-4497-989C-9741FF4C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EngagementPage: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DAF57-0128-460C-A28A-576729D6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본인에게 온 요청과 선택된 업무만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8254827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13144-2B8E-4418-9FD9-98A45095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3721E-DC89-47E0-B6B1-A6B23F58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 요청·견적 목록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C7CD6-9BDB-44EA-98F5-78C88A89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E02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4F2B7-632F-499F-8035-09DD2871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1D8F4-82CF-48DF-89B5-AFB6C65E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65828a39a4718"/>
          <a:stretch xmlns:a="http://schemas.openxmlformats.org/drawingml/2006/main"/>
        </p:blipFill>
        <p:spPr>
          <a:xfrm xmlns:a="http://schemas.openxmlformats.org/drawingml/2006/main">
            <a:off x="619125" y="2756473"/>
            <a:ext cx="7810500" cy="41549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A2AF2-76CD-4D61-8E53-3483A0F0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구매 조건과 요청 내용을 확인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견적 작성: E03 / 선택된 업무: E04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32324-2576-4520-A84F-8A4C845E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/expert/requests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243B2-7D83-4111-AF1B-526D90D3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status?, cursor?, limit?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DAB90-9AAB-49ED-848F-0CB8E200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RequestPage: 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C644E-85F2-42AC-BB50-98D86811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/requests/{request_id}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BBB71-1E6B-4672-B136-A8CA569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request_id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72214-C65C-4696-BC44-111B3F86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RequestView: request, quote,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engagement, buyer_name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05CB4-10B0-4473-9FB8-EF0045CB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REQUESTED / QUOTED / SELECTED로 구분합니다. 화면의 진행·완료 표시는 Engagement 상태와 함께 계산합니다.</a:t>
            </a:r>
          </a:p>
        </p:txBody>
      </p:sp>
    </p:spTree>
    <p:extLst>
      <p:ext uri="{BB962C8B-B14F-4D97-AF65-F5344CB8AC3E}">
        <p14:creationId xmlns:p14="http://schemas.microsoft.com/office/powerpoint/2010/main" val="13364686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4A0FF-AD74-40E5-ACC0-994F9EB9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5E558-3454-4B92-87A7-2A72F026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전문가의 단계별 업무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87938-B640-48F3-9C0F-EC77BDD1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E04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E5FED-1378-4DAF-80D5-C9FA84D9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C720A-B95B-417A-8C1D-2E53911D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939c3e3134299"/>
          <a:stretch xmlns:a="http://schemas.openxmlformats.org/drawingml/2006/main"/>
        </p:blipFill>
        <p:spPr>
          <a:xfrm xmlns:a="http://schemas.openxmlformats.org/drawingml/2006/main">
            <a:off x="1402701" y="2190750"/>
            <a:ext cx="6243347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B725E-C028-49BE-B409-B1239E6C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담당 단계만 표시, 세부 업무는 접은 상태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펼친 항목의 체크 변경 후 구매자 현황에 반영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8DB4E-7675-4211-B98C-DB2BEA1E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/engagements/{engagement_id}/workspace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78962-C821-498D-BAD5-38D27AF5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engagement_id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7DDF0-D144-4D58-9C7A-C00E0F83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Workspace: tasks, documents,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documents_allowed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5D3CF-D2F1-4E44-A5EF-9EB9D953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PATCH /tasks/{task_id}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50BA5-8BD6-46CB-90C0-7F33F4CE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task_id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completed (boolean)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8930B-8558-4BF5-A8E5-FA9515B1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Dashboard: phases,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overall_progress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6F748-AA2D-4413-94DD-38947379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403: 담당자 아님 / 409: 팀 미완성, 선행 단계 미완료, 후속 완료 기록 존재.</a:t>
            </a:r>
          </a:p>
        </p:txBody>
      </p:sp>
    </p:spTree>
    <p:extLst>
      <p:ext uri="{BB962C8B-B14F-4D97-AF65-F5344CB8AC3E}">
        <p14:creationId xmlns:p14="http://schemas.microsoft.com/office/powerpoint/2010/main" val="16634860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ABBAA-923F-4D31-BF2C-20139D1E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25717-1BE1-468B-8FF9-0EE8C543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 조건 수정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58735-CD78-4095-A323-C9C64824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B07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35BE8-DAF5-4B48-83BF-8D9454F5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DE39A-1280-408B-8B40-A5B18F05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33e862e8247e1"/>
          <a:stretch xmlns:a="http://schemas.openxmlformats.org/drawingml/2006/main"/>
        </p:blipFill>
        <p:spPr>
          <a:xfrm xmlns:a="http://schemas.openxmlformats.org/drawingml/2006/main">
            <a:off x="1729607" y="2190750"/>
            <a:ext cx="5589536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2DF55-3F9E-4C94-82D1-2FB8AB2A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변경사항 저장: 프로젝트와 전문가 공유 조건 갱신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취소: 변경하지 않고 닫기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93133-3EBA-4F65-A179-EB276D5C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PATCH /cases/{case_id}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615C0-86AF-4872-AE1F-89676EFB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CaseUpdate (변경 필드)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68EE3-B44C-49EE-9AB5-31B88D3C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PurchaseCase: 최신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E32F6-E1FB-4040-A275-051239F2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금액·일정·명의 계획의 최신 값을 공유합니다. 기존 대화 내용 자체를 덮어쓰지는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374055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F2F55-BAE5-4FEF-A79F-C37E2F33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2FC17-326D-4CC6-A0FE-4F056E5E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문서 정보와 공유 권한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2F7B6-BB44-4C68-850D-AF80C6C1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B08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19F59-2725-4AC4-B9EC-8691E9E9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FC656-AD71-4FA5-AC4A-B9AA3339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f087c654a47c5"/>
          <a:stretch xmlns:a="http://schemas.openxmlformats.org/drawingml/2006/main"/>
        </p:blipFill>
        <p:spPr>
          <a:xfrm xmlns:a="http://schemas.openxmlformats.org/drawingml/2006/main">
            <a:off x="1030671" y="2190750"/>
            <a:ext cx="6987408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96D09-132C-4DC9-A53E-F01D17B1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문서 추가: 메타데이터 등록 / 삭제: 목록 제거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체크박스: 해당 전문가의 문서 목록 열람 허용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785A1-49FF-4CA1-B93A-DC650EA5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/cases/{case_id}/documents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7E15D-A65C-4120-BB2F-9C16A9F3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file_name, size_bytes, mime_type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83866-C80E-4DCE-B49D-98527B13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201 응답: Document: id, file_name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AA574-D2A5-42B7-96FE-4E1990ED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PUT /cases/{case_id}/document-grants/{expert_id}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B9E52-1BAA-4857-AAE2-B97934D1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case_id, expert_id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allowed (boolean)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2CFC3-538B-41D2-807F-93962E8B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DocumentGrant: allowed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F61F0-409E-448B-8233-8863DC18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조회: GET /cases/{case_id}/documents 및 /document-grants. 삭제: DELETE /documents/{document_id} (204). 원문 파일은 저장하지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9723206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2BBFA-7BFE-489B-A00A-4780EB7E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74820-2796-49AF-ABA9-CC87D81D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통합 메시지 센터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56576-E8DA-4583-822D-07F10BF2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M01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68797-5B5E-4436-9A20-74C1049D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29DC1-89C2-4B8C-AD4D-B8FD1CA1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1952d6974406c"/>
          <a:stretch xmlns:a="http://schemas.openxmlformats.org/drawingml/2006/main"/>
        </p:blipFill>
        <p:spPr>
          <a:xfrm xmlns:a="http://schemas.openxmlformats.org/drawingml/2006/main">
            <a:off x="634521" y="2190750"/>
            <a:ext cx="7779707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3C6D9-5140-450D-B577-EF090F70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전체 대화에서 최신 메시지를 확인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전문가를 선택하면 1:1 대화 M02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959A3-2E5E-4E01-B2AC-CA8B5FAC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/conversations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E7C63-D05F-41A1-87CD-31AF842B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case_id?, cursor?, limit?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6C141-D251-484C-A8F8-DCF9DFEB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ConversationPage: 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75092-B9F8-4ACE-B8B8-718B6001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/messages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46EDE-25AC-49BB-B0B7-C5A033CE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case_id?, cursor?, limit?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7F851-9F33-41E2-955A-F3AD60F5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MessagePage: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78F16-73F6-4900-A373-300689B6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요청을 보낸 후보와 선택된 담당자의 대화를 모두 유지합니다. 참여자가 아닌 전문가의 대화는 보이지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199714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9DB9C-D1E4-4BB1-B572-E3BF5A64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C26D1-77F3-4708-90C3-0F03B1A5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전문가와 1:1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50A69-D5A3-490C-9F04-8B91E994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M02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9F575-0E38-44BD-973D-72F25F2E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ABD6D-B4DE-4CD6-9D8B-C06B8ADD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1799cf32f43dd"/>
          <a:stretch xmlns:a="http://schemas.openxmlformats.org/drawingml/2006/main"/>
        </p:blipFill>
        <p:spPr>
          <a:xfrm xmlns:a="http://schemas.openxmlformats.org/drawingml/2006/main">
            <a:off x="680884" y="2190750"/>
            <a:ext cx="7686982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D294F-F916-4CBD-8849-B1C46B33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전송: 메시지 저장 후 대화에 추가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실패 시 내용 유지, 같은 중복 방지 키로 재시도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04B60-FD09-4498-B6D1-D6AABED8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/conversations/{conversation_id}/messages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1053D-0FF3-48F4-9747-480C3D1E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conversation_id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cursor?, limit?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EE7A2-719F-42E6-A730-F362BC5C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MessagePage: 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0EAD5-E88C-4ECC-BDCF-49B55C35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/conversations/{conversation_id}/messages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3AE0E-EAA1-4671-B4F8-1E45D69C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conversation_id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body, client_message_id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01A79-E344-421E-A990-AED1333A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201 응답: Message: id, body, created_at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25886-D3E7-4797-A66B-F9DB6A35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body는 공백 제거 후 1~1000자. 대화 참여 권한이 없으면 403.</a:t>
            </a:r>
          </a:p>
        </p:txBody>
      </p:sp>
    </p:spTree>
    <p:extLst>
      <p:ext uri="{BB962C8B-B14F-4D97-AF65-F5344CB8AC3E}">
        <p14:creationId xmlns:p14="http://schemas.microsoft.com/office/powerpoint/2010/main" val="11460997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EA013-30E3-49B8-8929-8AFF7658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03746-7B03-49EB-AB71-C6738C09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 프로필 수정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96086-1797-40E9-9085-34CCA97C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E05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739DB-7E4A-48EC-BDDF-546CFAF9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6B2BB-A4BE-477C-AC5E-0134724B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c825252574119"/>
          <a:stretch xmlns:a="http://schemas.openxmlformats.org/drawingml/2006/main"/>
        </p:blipFill>
        <p:spPr>
          <a:xfrm xmlns:a="http://schemas.openxmlformats.org/drawingml/2006/main">
            <a:off x="1146208" y="2190750"/>
            <a:ext cx="6756334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660D7-C5A4-4194-AD92-302DD930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저장: 구매자 후보 목록의 소개에 반영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실명·자격 검증은 별도 연동 범위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B6C68-9F65-4350-B207-4BE0BB59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PATCH /expert/profile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237FD-73CA-4326-9539-38A058D5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office_name, bio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792D0-508A-4AB5-8526-E6118DB7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ExpertProfile: office_name, bio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C9BBD-1D54-4A59-BE15-A445260B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office_name은 1~100자, bio는 1~400자입니다.</a:t>
            </a:r>
          </a:p>
        </p:txBody>
      </p:sp>
    </p:spTree>
    <p:extLst>
      <p:ext uri="{BB962C8B-B14F-4D97-AF65-F5344CB8AC3E}">
        <p14:creationId xmlns:p14="http://schemas.microsoft.com/office/powerpoint/2010/main" val="3832968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B7863-16CE-4B7D-92AD-71443FFB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4937F-1A1B-4CF1-8E71-C4593BDB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데모 역할 전환과 초기화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F2F09-F56A-4CD8-9171-3BDC855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A01 / A02 · 운영 환경에서는 비활성화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CB93E-D7F4-4F39-A4BB-B8DA6930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9D1E4-A81F-4A8A-A4ED-D2FA499C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2f8f5f0db417c"/>
          <a:stretch xmlns:a="http://schemas.openxmlformats.org/drawingml/2006/main"/>
        </p:blipFill>
        <p:spPr>
          <a:xfrm xmlns:a="http://schemas.openxmlformats.org/drawingml/2006/main">
            <a:off x="666750" y="2420541"/>
            <a:ext cx="7715250" cy="492919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936afe4e54e92"/>
          <a:stretch xmlns:a="http://schemas.openxmlformats.org/drawingml/2006/main"/>
        </p:blipFill>
        <p:spPr>
          <a:xfrm xmlns:a="http://schemas.openxmlformats.org/drawingml/2006/main">
            <a:off x="1238250" y="4354862"/>
            <a:ext cx="6572250" cy="23392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F0F4F-D6D3-44E9-8808-531A5ECF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/demo/actors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57D1A-62C6-48E5-89AE-5840DA0E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입력 없음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18554-04D1-496B-83C7-417C10A2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User[]: id, role, 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FEB48-E209-4238-9386-11D6ED21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29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/demo/context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35753-95B3-4EE0-A180-8994F776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91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actor_id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E4FE9-BA08-4C33-8DC0-0A816269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53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User: id, role, 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CC2AD-7DC7-4333-8D2D-F47F4423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76275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/demo/reset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7085F-E8E8-4602-A160-E638BE21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5247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confirm = true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B1BFC-B4CE-4F39-8B7F-176776DE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2867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reset: boolean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0AFA4-F30F-446B-B535-40C3FDB6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6200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역할 전환: 구매자 또는 전문가 화면</a:t>
            </a:r>
          </a:p>
          <a:p xmlns:a="http://schemas.openxmlformats.org/drawingml/2006/main">
            <a:pPr>
              <a:def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초기화 취소: 데이터 유지</a:t>
            </a:r>
          </a:p>
          <a:p xmlns:a="http://schemas.openxmlformats.org/drawingml/2006/main">
            <a:pPr>
              <a:def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초기화 확인: 데모 데이터 삭제 후 서비스 소개</a:t>
            </a:r>
          </a:p>
        </p:txBody>
      </p:sp>
    </p:spTree>
    <p:extLst>
      <p:ext uri="{BB962C8B-B14F-4D97-AF65-F5344CB8AC3E}">
        <p14:creationId xmlns:p14="http://schemas.microsoft.com/office/powerpoint/2010/main" val="2612397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1D0D3-2A08-4FEC-9554-9761500A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AE040-8FB1-412B-BCD5-7ADEEE3B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오류·예외 화면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1814D-CE07-4893-890F-6B287A1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60B34-F00D-453B-83F9-F6AD49B2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16597-2844-413D-BE32-BE8AA107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2095500"/>
          <a:ext xmlns:a="http://schemas.openxmlformats.org/drawingml/2006/main" cx="123825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1809750"/>
                <a:gridCol w="5524500"/>
              </a:tblGrid>
              <a:tr h="84364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상황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HTTP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화면 처리와 복귀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84364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필수값·금액·메시지 형식 오류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400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입력값 유지, 해당 필드에 이유 표시 후 재입력</a:t>
                      </a:r>
                    </a:p>
                  </a:txBody>
                  <a:tcPr marL="152400" marR="152400" marT="114300" marB="95250"/>
                </a:tc>
              </a:tr>
              <a:tr h="84364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세션 만료 / 타인 자료 접근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401 / 403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인증 복구 안내 / 권한 없음 안내. 민감 정보는 표시하지 않음</a:t>
                      </a:r>
                    </a:p>
                  </a:txBody>
                  <a:tcPr marL="152400" marR="152400" marT="114300" marB="95250"/>
                </a:tc>
              </a:tr>
              <a:tr h="84364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삭제되었거나 없는 요청·문서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404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목록 새로고침 후 유효한 항목으로 복귀</a:t>
                      </a:r>
                    </a:p>
                  </a:txBody>
                  <a:tcPr marL="152400" marR="152400" marT="114300" marB="95250"/>
                </a:tc>
              </a:tr>
              <a:tr h="84364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중복 요청 / 담당자 변경 제한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409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현재 요청·견적 상태를 다시 조회하고 제한 사유 안내</a:t>
                      </a:r>
                    </a:p>
                  </a:txBody>
                  <a:tcPr marL="152400" marR="152400" marT="114300" marB="95250"/>
                </a:tc>
              </a:tr>
              <a:tr h="84364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팀 미완성 / 선행 단계 미완료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409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체크는 변경하지 않고 필요한 전문가 선택·앞 단계로 안내</a:t>
                      </a:r>
                    </a:p>
                  </a:txBody>
                  <a:tcPr marL="152400" marR="152400" marT="114300" marB="95250"/>
                </a:tc>
              </a:tr>
              <a:tr h="84364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서버 실패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500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현재 입력 유지, 재시도. 메시지는 중복 방지 키 재사용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E3B06-ECCA-4AAB-A054-A4CFD5D0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48650"/>
            <a:ext cx="1219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공통 오류 응답: code, message, request_id, field_errors[] (선택)</a:t>
            </a:r>
          </a:p>
        </p:txBody>
      </p:sp>
    </p:spTree>
    <p:extLst>
      <p:ext uri="{BB962C8B-B14F-4D97-AF65-F5344CB8AC3E}">
        <p14:creationId xmlns:p14="http://schemas.microsoft.com/office/powerpoint/2010/main" val="205552736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C34DA-CFE0-40D0-A2E0-6FDBD1E6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E7245-79CE-449C-89CB-0A87C0D0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UI와 API 데이터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5756E-D3A2-48B0-B5BD-99B70676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B72A9-A69E-452A-BCE9-88C17275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424A7-A39C-476C-8B69-E918305A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1238250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8382000"/>
              </a:tblGrid>
              <a:tr h="89126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화면 표시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API 필드와 처리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89126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구매 예산 70,000만원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budget_krw = 700000000 (integer, 원 단위)</a:t>
                      </a:r>
                    </a:p>
                  </a:txBody>
                  <a:tcPr marL="152400" marR="152400" marT="114300" marB="95250"/>
                </a:tc>
              </a:tr>
              <a:tr h="89126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보유 주택 2채 이상 / 잔금일 미정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home_count = 2 (범주 값) / target_closing_date = null</a:t>
                      </a:r>
                    </a:p>
                  </a:txBody>
                  <a:tcPr marL="152400" marR="152400" marT="114300" marB="95250"/>
                </a:tc>
              </a:tr>
              <a:tr h="89126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전문가 견적 합계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fee_krw + vat_krw. 세금·공과금과 별도 표시</a:t>
                      </a:r>
                    </a:p>
                  </a:txBody>
                  <a:tcPr marL="152400" marR="152400" marT="114300" marB="95250"/>
                </a:tc>
              </a:tr>
              <a:tr h="89126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단계 표시 / 진행률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phases[].phase_order, status, progress.percent</a:t>
                      </a:r>
                    </a:p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단계의 상세 업무는 필요한 경우에만 펼침</a:t>
                      </a:r>
                    </a:p>
                  </a:txBody>
                  <a:tcPr marL="152400" marR="152400" marT="114300" marB="95250"/>
                </a:tc>
              </a:tr>
              <a:tr h="89126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파일 크기 / 대화 시간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size_bytes를 KB로 표시 / created_at UTC를 한국시간으로 표시</a:t>
                      </a:r>
                    </a:p>
                  </a:txBody>
                  <a:tcPr marL="152400" marR="152400" marT="114300" marB="95250"/>
                </a:tc>
              </a:tr>
              <a:tr h="89126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구현 범위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현재 UI는 브라우저 저장 데모. 제시한 API는 서버 연동 목표 명세이며 실제 호출 완료를 의미하지 않음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12528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0B913-4F0A-40AB-9F99-EB067507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94D1A-2D5D-496A-9D82-96A03FEF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기능과 화면의 대응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159E0-B1E2-4E39-B7E6-7DA04109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854ED-C326-4123-A039-285375D0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D5CB1-355D-45D3-84F5-18AE2FD4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12382500" cy="609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3524250"/>
                <a:gridCol w="4667250"/>
              </a:tblGrid>
              <a:tr h="87085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기능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화면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API 연결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87085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전문가 검색 / 조건 등록·수정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V01·V02 / B01~B03·B07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계정, 전문가, 구매 프로젝트</a:t>
                      </a:r>
                    </a:p>
                  </a:txBody>
                  <a:tcPr marL="152400" marR="152400" marT="114300" marB="95250"/>
                </a:tc>
              </a:tr>
              <a:tr h="87085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요청·견적 / 분야별 선택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B05·B04 / E01~E03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ServiceRequest, Quote, TeamSelection</a:t>
                      </a:r>
                    </a:p>
                  </a:txBody>
                  <a:tcPr marL="152400" marR="152400" marT="114300" marB="95250"/>
                </a:tc>
              </a:tr>
              <a:tr h="87085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6단계 진행 확인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B04·B06 / E04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Dashboard, Workspace, Task</a:t>
                      </a:r>
                    </a:p>
                  </a:txBody>
                  <a:tcPr marL="152400" marR="152400" marT="114300" marB="95250"/>
                </a:tc>
              </a:tr>
              <a:tr h="87085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문서 메타데이터·공유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B08 / E04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Document, DocumentGrant</a:t>
                      </a:r>
                    </a:p>
                  </a:txBody>
                  <a:tcPr marL="152400" marR="152400" marT="114300" marB="95250"/>
                </a:tc>
              </a:tr>
              <a:tr h="87085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대화 / 최근 활동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M01·M02 / B04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Conversation, Message, AuditEvent</a:t>
                      </a:r>
                    </a:p>
                  </a:txBody>
                  <a:tcPr marL="152400" marR="152400" marT="114300" marB="95250"/>
                </a:tc>
              </a:tr>
              <a:tr h="87085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프로필 / 데모 관리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E05 / A01·A02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ExpertProfile, demo context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917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2026-09-16T07:41:51.9580000Z</dcterms:created>
  <dcterms:modified xsi:type="dcterms:W3CDTF">2026-09-16T07:41:51.9580000Z</dcterms:modified>
</coreProperties>
</file>